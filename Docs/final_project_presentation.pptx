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7" r:id="rId2"/>
    <p:sldId id="259" r:id="rId3"/>
    <p:sldId id="260" r:id="rId4"/>
    <p:sldId id="261" r:id="rId5"/>
    <p:sldId id="262" r:id="rId6"/>
    <p:sldId id="263" r:id="rId7"/>
    <p:sldId id="266" r:id="rId8"/>
    <p:sldId id="267" r:id="rId9"/>
    <p:sldId id="268" r:id="rId10"/>
    <p:sldId id="264" r:id="rId11"/>
    <p:sldId id="265" r:id="rId12"/>
    <p:sldId id="270" r:id="rId13"/>
    <p:sldId id="269" r:id="rId14"/>
    <p:sldId id="271" r:id="rId15"/>
    <p:sldId id="290" r:id="rId16"/>
    <p:sldId id="291" r:id="rId17"/>
    <p:sldId id="272" r:id="rId18"/>
    <p:sldId id="277" r:id="rId19"/>
    <p:sldId id="273" r:id="rId20"/>
    <p:sldId id="278" r:id="rId21"/>
    <p:sldId id="274" r:id="rId22"/>
    <p:sldId id="275" r:id="rId23"/>
    <p:sldId id="284" r:id="rId24"/>
    <p:sldId id="285" r:id="rId25"/>
    <p:sldId id="286" r:id="rId26"/>
    <p:sldId id="287" r:id="rId27"/>
    <p:sldId id="288" r:id="rId28"/>
    <p:sldId id="289" r:id="rId29"/>
    <p:sldId id="279" r:id="rId30"/>
    <p:sldId id="280" r:id="rId31"/>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ללא סגנון, רשת טבלה">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סגנון ביניים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סגנון ביניים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349" autoAdjust="0"/>
    <p:restoredTop sz="94660"/>
  </p:normalViewPr>
  <p:slideViewPr>
    <p:cSldViewPr snapToGrid="0">
      <p:cViewPr varScale="1">
        <p:scale>
          <a:sx n="81" d="100"/>
          <a:sy n="81" d="100"/>
        </p:scale>
        <p:origin x="90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9A32C23-FAA6-7106-F438-12231AD2757E}"/>
              </a:ext>
            </a:extLst>
          </p:cNvPr>
          <p:cNvSpPr>
            <a:spLocks noGrp="1"/>
          </p:cNvSpPr>
          <p:nvPr>
            <p:ph type="ctrTitle"/>
          </p:nvPr>
        </p:nvSpPr>
        <p:spPr>
          <a:xfrm>
            <a:off x="1524000" y="1122363"/>
            <a:ext cx="9144000" cy="2387600"/>
          </a:xfrm>
        </p:spPr>
        <p:txBody>
          <a:bodyPr anchor="b"/>
          <a:lstStyle>
            <a:lvl1pPr algn="ctr">
              <a:defRPr sz="6000"/>
            </a:lvl1pPr>
          </a:lstStyle>
          <a:p>
            <a:r>
              <a:rPr lang="he-IL" dirty="0"/>
              <a:t>לחץ כדי לערוך סגנון כותרת של תבנית בסיס</a:t>
            </a:r>
          </a:p>
        </p:txBody>
      </p:sp>
      <p:sp>
        <p:nvSpPr>
          <p:cNvPr id="3" name="כותרת משנה 2">
            <a:extLst>
              <a:ext uri="{FF2B5EF4-FFF2-40B4-BE49-F238E27FC236}">
                <a16:creationId xmlns:a16="http://schemas.microsoft.com/office/drawing/2014/main" id="{3FD5E2F8-93B0-FF75-ED92-CD6FC8F403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dirty="0"/>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4709781B-6A99-3F56-CB17-350CE6287FC8}"/>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5" name="מציין מיקום של כותרת תחתונה 4">
            <a:extLst>
              <a:ext uri="{FF2B5EF4-FFF2-40B4-BE49-F238E27FC236}">
                <a16:creationId xmlns:a16="http://schemas.microsoft.com/office/drawing/2014/main" id="{47E31645-472E-87D4-DFA9-303D3A54EC7E}"/>
              </a:ext>
            </a:extLst>
          </p:cNvPr>
          <p:cNvSpPr>
            <a:spLocks noGrp="1"/>
          </p:cNvSpPr>
          <p:nvPr>
            <p:ph type="ftr" sz="quarter" idx="11"/>
          </p:nvPr>
        </p:nvSpPr>
        <p:spPr/>
        <p:txBody>
          <a:bodyPr/>
          <a:lstStyle/>
          <a:p>
            <a:endParaRPr lang="he-IL" dirty="0"/>
          </a:p>
        </p:txBody>
      </p:sp>
      <p:sp>
        <p:nvSpPr>
          <p:cNvPr id="6" name="מציין מיקום של מספר שקופית 5">
            <a:extLst>
              <a:ext uri="{FF2B5EF4-FFF2-40B4-BE49-F238E27FC236}">
                <a16:creationId xmlns:a16="http://schemas.microsoft.com/office/drawing/2014/main" id="{EE56ED2E-B207-C190-1ACA-F2CFED432AEE}"/>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667267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CAF6302-1033-78FA-22C4-82C6A589A115}"/>
              </a:ext>
            </a:extLst>
          </p:cNvPr>
          <p:cNvSpPr>
            <a:spLocks noGrp="1"/>
          </p:cNvSpPr>
          <p:nvPr>
            <p:ph type="title"/>
          </p:nvPr>
        </p:nvSpPr>
        <p:spPr/>
        <p:txBody>
          <a:bodyPr/>
          <a:lstStyle/>
          <a:p>
            <a:r>
              <a:rPr lang="he-IL" dirty="0"/>
              <a:t>לחץ כדי לערוך סגנון כותרת של תבנית בסיס</a:t>
            </a:r>
          </a:p>
        </p:txBody>
      </p:sp>
      <p:sp>
        <p:nvSpPr>
          <p:cNvPr id="3" name="מציין מיקום תוכן 2">
            <a:extLst>
              <a:ext uri="{FF2B5EF4-FFF2-40B4-BE49-F238E27FC236}">
                <a16:creationId xmlns:a16="http://schemas.microsoft.com/office/drawing/2014/main" id="{78B74AF9-425B-60AC-2793-A3440EAFD78A}"/>
              </a:ext>
            </a:extLst>
          </p:cNvPr>
          <p:cNvSpPr>
            <a:spLocks noGrp="1"/>
          </p:cNvSpPr>
          <p:nvPr>
            <p:ph idx="1"/>
          </p:nvPr>
        </p:nvSpPr>
        <p:spPr/>
        <p:txBody>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4" name="מציין מיקום של תאריך 3">
            <a:extLst>
              <a:ext uri="{FF2B5EF4-FFF2-40B4-BE49-F238E27FC236}">
                <a16:creationId xmlns:a16="http://schemas.microsoft.com/office/drawing/2014/main" id="{BE0DEEAD-59BF-3A5B-9018-E87130862EC8}"/>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5" name="מציין מיקום של כותרת תחתונה 4">
            <a:extLst>
              <a:ext uri="{FF2B5EF4-FFF2-40B4-BE49-F238E27FC236}">
                <a16:creationId xmlns:a16="http://schemas.microsoft.com/office/drawing/2014/main" id="{05A50A89-4806-7212-C6FF-EA82122B0317}"/>
              </a:ext>
            </a:extLst>
          </p:cNvPr>
          <p:cNvSpPr>
            <a:spLocks noGrp="1"/>
          </p:cNvSpPr>
          <p:nvPr>
            <p:ph type="ftr" sz="quarter" idx="11"/>
          </p:nvPr>
        </p:nvSpPr>
        <p:spPr/>
        <p:txBody>
          <a:bodyPr/>
          <a:lstStyle/>
          <a:p>
            <a:endParaRPr lang="he-IL" dirty="0"/>
          </a:p>
        </p:txBody>
      </p:sp>
      <p:sp>
        <p:nvSpPr>
          <p:cNvPr id="6" name="מציין מיקום של מספר שקופית 5">
            <a:extLst>
              <a:ext uri="{FF2B5EF4-FFF2-40B4-BE49-F238E27FC236}">
                <a16:creationId xmlns:a16="http://schemas.microsoft.com/office/drawing/2014/main" id="{8D48F3D1-D98F-5FBC-4937-85C3ED26502C}"/>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1684043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E0DCA4E-AE21-11FD-5D95-78C1FBA6FCFD}"/>
              </a:ext>
            </a:extLst>
          </p:cNvPr>
          <p:cNvSpPr>
            <a:spLocks noGrp="1"/>
          </p:cNvSpPr>
          <p:nvPr>
            <p:ph type="title"/>
          </p:nvPr>
        </p:nvSpPr>
        <p:spPr>
          <a:xfrm>
            <a:off x="831850" y="1709738"/>
            <a:ext cx="10515600" cy="2852737"/>
          </a:xfrm>
        </p:spPr>
        <p:txBody>
          <a:bodyPr anchor="b"/>
          <a:lstStyle>
            <a:lvl1pPr>
              <a:defRPr sz="6000"/>
            </a:lvl1pPr>
          </a:lstStyle>
          <a:p>
            <a:r>
              <a:rPr lang="he-IL" dirty="0"/>
              <a:t>לחץ כדי לערוך סגנון כותרת של תבנית בסיס</a:t>
            </a:r>
          </a:p>
        </p:txBody>
      </p:sp>
      <p:sp>
        <p:nvSpPr>
          <p:cNvPr id="3" name="מציין מיקום טקסט 2">
            <a:extLst>
              <a:ext uri="{FF2B5EF4-FFF2-40B4-BE49-F238E27FC236}">
                <a16:creationId xmlns:a16="http://schemas.microsoft.com/office/drawing/2014/main" id="{B8180E86-3B45-4481-9D2A-1E7D28DA60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dirty="0"/>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B2464E22-2B3C-3AF8-3F77-EE709D1D619A}"/>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5" name="מציין מיקום של כותרת תחתונה 4">
            <a:extLst>
              <a:ext uri="{FF2B5EF4-FFF2-40B4-BE49-F238E27FC236}">
                <a16:creationId xmlns:a16="http://schemas.microsoft.com/office/drawing/2014/main" id="{51030E75-B051-A845-6837-40A197B1B30A}"/>
              </a:ext>
            </a:extLst>
          </p:cNvPr>
          <p:cNvSpPr>
            <a:spLocks noGrp="1"/>
          </p:cNvSpPr>
          <p:nvPr>
            <p:ph type="ftr" sz="quarter" idx="11"/>
          </p:nvPr>
        </p:nvSpPr>
        <p:spPr/>
        <p:txBody>
          <a:bodyPr/>
          <a:lstStyle/>
          <a:p>
            <a:endParaRPr lang="he-IL" dirty="0"/>
          </a:p>
        </p:txBody>
      </p:sp>
      <p:sp>
        <p:nvSpPr>
          <p:cNvPr id="6" name="מציין מיקום של מספר שקופית 5">
            <a:extLst>
              <a:ext uri="{FF2B5EF4-FFF2-40B4-BE49-F238E27FC236}">
                <a16:creationId xmlns:a16="http://schemas.microsoft.com/office/drawing/2014/main" id="{0F440E57-829D-2FE8-C2A5-FFC7AE9420BA}"/>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3000256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BFA1E99-7ADC-422F-3E40-FAD2E4283ED6}"/>
              </a:ext>
            </a:extLst>
          </p:cNvPr>
          <p:cNvSpPr>
            <a:spLocks noGrp="1"/>
          </p:cNvSpPr>
          <p:nvPr>
            <p:ph type="title"/>
          </p:nvPr>
        </p:nvSpPr>
        <p:spPr/>
        <p:txBody>
          <a:bodyPr/>
          <a:lstStyle/>
          <a:p>
            <a:r>
              <a:rPr lang="he-IL" dirty="0"/>
              <a:t>לחץ כדי לערוך סגנון כותרת של תבנית בסיס</a:t>
            </a:r>
          </a:p>
        </p:txBody>
      </p:sp>
      <p:sp>
        <p:nvSpPr>
          <p:cNvPr id="3" name="מציין מיקום תוכן 2">
            <a:extLst>
              <a:ext uri="{FF2B5EF4-FFF2-40B4-BE49-F238E27FC236}">
                <a16:creationId xmlns:a16="http://schemas.microsoft.com/office/drawing/2014/main" id="{D623F15D-92BE-18CB-961D-CB34326C3CDA}"/>
              </a:ext>
            </a:extLst>
          </p:cNvPr>
          <p:cNvSpPr>
            <a:spLocks noGrp="1"/>
          </p:cNvSpPr>
          <p:nvPr>
            <p:ph sz="half" idx="1"/>
          </p:nvPr>
        </p:nvSpPr>
        <p:spPr>
          <a:xfrm>
            <a:off x="838200" y="1825625"/>
            <a:ext cx="5181600" cy="4351338"/>
          </a:xfrm>
        </p:spPr>
        <p:txBody>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4" name="מציין מיקום תוכן 3">
            <a:extLst>
              <a:ext uri="{FF2B5EF4-FFF2-40B4-BE49-F238E27FC236}">
                <a16:creationId xmlns:a16="http://schemas.microsoft.com/office/drawing/2014/main" id="{97FEBAD2-DFC7-1792-D370-CAF1FABABF17}"/>
              </a:ext>
            </a:extLst>
          </p:cNvPr>
          <p:cNvSpPr>
            <a:spLocks noGrp="1"/>
          </p:cNvSpPr>
          <p:nvPr>
            <p:ph sz="half" idx="2"/>
          </p:nvPr>
        </p:nvSpPr>
        <p:spPr>
          <a:xfrm>
            <a:off x="6172200" y="1825625"/>
            <a:ext cx="5181600" cy="4351338"/>
          </a:xfrm>
        </p:spPr>
        <p:txBody>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5" name="מציין מיקום של תאריך 4">
            <a:extLst>
              <a:ext uri="{FF2B5EF4-FFF2-40B4-BE49-F238E27FC236}">
                <a16:creationId xmlns:a16="http://schemas.microsoft.com/office/drawing/2014/main" id="{FDE267CF-6D01-0A3A-40F3-6011780CBCD8}"/>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6" name="מציין מיקום של כותרת תחתונה 5">
            <a:extLst>
              <a:ext uri="{FF2B5EF4-FFF2-40B4-BE49-F238E27FC236}">
                <a16:creationId xmlns:a16="http://schemas.microsoft.com/office/drawing/2014/main" id="{EBE8AB24-CB9A-D81C-25DE-C59CC70D96B2}"/>
              </a:ext>
            </a:extLst>
          </p:cNvPr>
          <p:cNvSpPr>
            <a:spLocks noGrp="1"/>
          </p:cNvSpPr>
          <p:nvPr>
            <p:ph type="ftr" sz="quarter" idx="11"/>
          </p:nvPr>
        </p:nvSpPr>
        <p:spPr/>
        <p:txBody>
          <a:bodyPr/>
          <a:lstStyle/>
          <a:p>
            <a:endParaRPr lang="he-IL" dirty="0"/>
          </a:p>
        </p:txBody>
      </p:sp>
      <p:sp>
        <p:nvSpPr>
          <p:cNvPr id="7" name="מציין מיקום של מספר שקופית 6">
            <a:extLst>
              <a:ext uri="{FF2B5EF4-FFF2-40B4-BE49-F238E27FC236}">
                <a16:creationId xmlns:a16="http://schemas.microsoft.com/office/drawing/2014/main" id="{DE91A599-F6DF-5250-F15D-8234770977AB}"/>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1423482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6DC3285-29AA-C931-1741-755489480B79}"/>
              </a:ext>
            </a:extLst>
          </p:cNvPr>
          <p:cNvSpPr>
            <a:spLocks noGrp="1"/>
          </p:cNvSpPr>
          <p:nvPr>
            <p:ph type="title"/>
          </p:nvPr>
        </p:nvSpPr>
        <p:spPr>
          <a:xfrm>
            <a:off x="839788" y="365125"/>
            <a:ext cx="10515600" cy="1325563"/>
          </a:xfrm>
        </p:spPr>
        <p:txBody>
          <a:bodyPr/>
          <a:lstStyle/>
          <a:p>
            <a:r>
              <a:rPr lang="he-IL" dirty="0"/>
              <a:t>לחץ כדי לערוך סגנון כותרת של תבנית בסיס</a:t>
            </a:r>
          </a:p>
        </p:txBody>
      </p:sp>
      <p:sp>
        <p:nvSpPr>
          <p:cNvPr id="3" name="מציין מיקום טקסט 2">
            <a:extLst>
              <a:ext uri="{FF2B5EF4-FFF2-40B4-BE49-F238E27FC236}">
                <a16:creationId xmlns:a16="http://schemas.microsoft.com/office/drawing/2014/main" id="{73BFC9C4-4F61-D0A2-B16D-AB731A50B1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dirty="0"/>
              <a:t>לחץ כדי לערוך סגנונות טקסט של תבנית בסיס</a:t>
            </a:r>
          </a:p>
        </p:txBody>
      </p:sp>
      <p:sp>
        <p:nvSpPr>
          <p:cNvPr id="4" name="מציין מיקום תוכן 3">
            <a:extLst>
              <a:ext uri="{FF2B5EF4-FFF2-40B4-BE49-F238E27FC236}">
                <a16:creationId xmlns:a16="http://schemas.microsoft.com/office/drawing/2014/main" id="{D77C51C5-FBF7-8C96-D980-94C5ADA3E86D}"/>
              </a:ext>
            </a:extLst>
          </p:cNvPr>
          <p:cNvSpPr>
            <a:spLocks noGrp="1"/>
          </p:cNvSpPr>
          <p:nvPr>
            <p:ph sz="half" idx="2"/>
          </p:nvPr>
        </p:nvSpPr>
        <p:spPr>
          <a:xfrm>
            <a:off x="839788" y="2505075"/>
            <a:ext cx="5157787" cy="3684588"/>
          </a:xfrm>
        </p:spPr>
        <p:txBody>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5" name="מציין מיקום טקסט 4">
            <a:extLst>
              <a:ext uri="{FF2B5EF4-FFF2-40B4-BE49-F238E27FC236}">
                <a16:creationId xmlns:a16="http://schemas.microsoft.com/office/drawing/2014/main" id="{AC56F819-CA04-0934-9629-776AED8EF3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dirty="0"/>
              <a:t>לחץ כדי לערוך סגנונות טקסט של תבנית בסיס</a:t>
            </a:r>
          </a:p>
        </p:txBody>
      </p:sp>
      <p:sp>
        <p:nvSpPr>
          <p:cNvPr id="6" name="מציין מיקום תוכן 5">
            <a:extLst>
              <a:ext uri="{FF2B5EF4-FFF2-40B4-BE49-F238E27FC236}">
                <a16:creationId xmlns:a16="http://schemas.microsoft.com/office/drawing/2014/main" id="{5C1C170E-2553-12F8-1E18-CBD7A94D6F99}"/>
              </a:ext>
            </a:extLst>
          </p:cNvPr>
          <p:cNvSpPr>
            <a:spLocks noGrp="1"/>
          </p:cNvSpPr>
          <p:nvPr>
            <p:ph sz="quarter" idx="4"/>
          </p:nvPr>
        </p:nvSpPr>
        <p:spPr>
          <a:xfrm>
            <a:off x="6172200" y="2505075"/>
            <a:ext cx="5183188" cy="3684588"/>
          </a:xfrm>
        </p:spPr>
        <p:txBody>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7" name="מציין מיקום של תאריך 6">
            <a:extLst>
              <a:ext uri="{FF2B5EF4-FFF2-40B4-BE49-F238E27FC236}">
                <a16:creationId xmlns:a16="http://schemas.microsoft.com/office/drawing/2014/main" id="{F0CCD48B-C36C-CC7B-31FA-DA66AA4CB171}"/>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8" name="מציין מיקום של כותרת תחתונה 7">
            <a:extLst>
              <a:ext uri="{FF2B5EF4-FFF2-40B4-BE49-F238E27FC236}">
                <a16:creationId xmlns:a16="http://schemas.microsoft.com/office/drawing/2014/main" id="{A7C29CC2-E154-BDCF-EAD8-A6FD42A4C9B0}"/>
              </a:ext>
            </a:extLst>
          </p:cNvPr>
          <p:cNvSpPr>
            <a:spLocks noGrp="1"/>
          </p:cNvSpPr>
          <p:nvPr>
            <p:ph type="ftr" sz="quarter" idx="11"/>
          </p:nvPr>
        </p:nvSpPr>
        <p:spPr/>
        <p:txBody>
          <a:bodyPr/>
          <a:lstStyle/>
          <a:p>
            <a:endParaRPr lang="he-IL" dirty="0"/>
          </a:p>
        </p:txBody>
      </p:sp>
      <p:sp>
        <p:nvSpPr>
          <p:cNvPr id="9" name="מציין מיקום של מספר שקופית 8">
            <a:extLst>
              <a:ext uri="{FF2B5EF4-FFF2-40B4-BE49-F238E27FC236}">
                <a16:creationId xmlns:a16="http://schemas.microsoft.com/office/drawing/2014/main" id="{2BB67DF1-B708-58BF-2B68-D7EF539FB47C}"/>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1848891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DB6D080-B6A9-7AF4-2A67-53CE2C1EFCD9}"/>
              </a:ext>
            </a:extLst>
          </p:cNvPr>
          <p:cNvSpPr>
            <a:spLocks noGrp="1"/>
          </p:cNvSpPr>
          <p:nvPr>
            <p:ph type="title"/>
          </p:nvPr>
        </p:nvSpPr>
        <p:spPr/>
        <p:txBody>
          <a:bodyPr/>
          <a:lstStyle/>
          <a:p>
            <a:r>
              <a:rPr lang="he-IL" dirty="0"/>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76597385-9635-A744-1F43-2FD9D38531C8}"/>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4" name="מציין מיקום של כותרת תחתונה 3">
            <a:extLst>
              <a:ext uri="{FF2B5EF4-FFF2-40B4-BE49-F238E27FC236}">
                <a16:creationId xmlns:a16="http://schemas.microsoft.com/office/drawing/2014/main" id="{5F69C1F5-DFCF-BA2D-89FE-400FDF8E1256}"/>
              </a:ext>
            </a:extLst>
          </p:cNvPr>
          <p:cNvSpPr>
            <a:spLocks noGrp="1"/>
          </p:cNvSpPr>
          <p:nvPr>
            <p:ph type="ftr" sz="quarter" idx="11"/>
          </p:nvPr>
        </p:nvSpPr>
        <p:spPr/>
        <p:txBody>
          <a:bodyPr/>
          <a:lstStyle/>
          <a:p>
            <a:endParaRPr lang="he-IL" dirty="0"/>
          </a:p>
        </p:txBody>
      </p:sp>
      <p:sp>
        <p:nvSpPr>
          <p:cNvPr id="5" name="מציין מיקום של מספר שקופית 4">
            <a:extLst>
              <a:ext uri="{FF2B5EF4-FFF2-40B4-BE49-F238E27FC236}">
                <a16:creationId xmlns:a16="http://schemas.microsoft.com/office/drawing/2014/main" id="{9D982E68-6928-DDFB-CFA7-EDC04643CDA2}"/>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308188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15385EA8-7BC3-5C44-8692-78F3FFF25A75}"/>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3" name="מציין מיקום של כותרת תחתונה 2">
            <a:extLst>
              <a:ext uri="{FF2B5EF4-FFF2-40B4-BE49-F238E27FC236}">
                <a16:creationId xmlns:a16="http://schemas.microsoft.com/office/drawing/2014/main" id="{3D8907FB-9D4D-B015-31E6-322220305F78}"/>
              </a:ext>
            </a:extLst>
          </p:cNvPr>
          <p:cNvSpPr>
            <a:spLocks noGrp="1"/>
          </p:cNvSpPr>
          <p:nvPr>
            <p:ph type="ftr" sz="quarter" idx="1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3292EA2D-0643-CBDE-E88B-6F8B49BAC220}"/>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3867491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A921974-B5E1-C995-7F49-661F0C568545}"/>
              </a:ext>
            </a:extLst>
          </p:cNvPr>
          <p:cNvSpPr>
            <a:spLocks noGrp="1"/>
          </p:cNvSpPr>
          <p:nvPr>
            <p:ph type="title"/>
          </p:nvPr>
        </p:nvSpPr>
        <p:spPr>
          <a:xfrm>
            <a:off x="839788" y="457200"/>
            <a:ext cx="3932237" cy="1600200"/>
          </a:xfrm>
        </p:spPr>
        <p:txBody>
          <a:bodyPr anchor="b"/>
          <a:lstStyle>
            <a:lvl1pPr>
              <a:defRPr sz="3200"/>
            </a:lvl1pPr>
          </a:lstStyle>
          <a:p>
            <a:r>
              <a:rPr lang="he-IL" dirty="0"/>
              <a:t>לחץ כדי לערוך סגנון כותרת של תבנית בסיס</a:t>
            </a:r>
          </a:p>
        </p:txBody>
      </p:sp>
      <p:sp>
        <p:nvSpPr>
          <p:cNvPr id="3" name="מציין מיקום תוכן 2">
            <a:extLst>
              <a:ext uri="{FF2B5EF4-FFF2-40B4-BE49-F238E27FC236}">
                <a16:creationId xmlns:a16="http://schemas.microsoft.com/office/drawing/2014/main" id="{9E7CA0FB-CD57-45BD-BE0B-ABD45D8EA5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4" name="מציין מיקום טקסט 3">
            <a:extLst>
              <a:ext uri="{FF2B5EF4-FFF2-40B4-BE49-F238E27FC236}">
                <a16:creationId xmlns:a16="http://schemas.microsoft.com/office/drawing/2014/main" id="{3E38E980-08EA-FE23-3866-B8DC6B49D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dirty="0"/>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748FA493-3AB6-C31F-F4AC-790852B06D6F}"/>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6" name="מציין מיקום של כותרת תחתונה 5">
            <a:extLst>
              <a:ext uri="{FF2B5EF4-FFF2-40B4-BE49-F238E27FC236}">
                <a16:creationId xmlns:a16="http://schemas.microsoft.com/office/drawing/2014/main" id="{BFF9AE9E-0561-97F6-9873-7B481327E3EF}"/>
              </a:ext>
            </a:extLst>
          </p:cNvPr>
          <p:cNvSpPr>
            <a:spLocks noGrp="1"/>
          </p:cNvSpPr>
          <p:nvPr>
            <p:ph type="ftr" sz="quarter" idx="11"/>
          </p:nvPr>
        </p:nvSpPr>
        <p:spPr/>
        <p:txBody>
          <a:bodyPr/>
          <a:lstStyle/>
          <a:p>
            <a:endParaRPr lang="he-IL" dirty="0"/>
          </a:p>
        </p:txBody>
      </p:sp>
      <p:sp>
        <p:nvSpPr>
          <p:cNvPr id="7" name="מציין מיקום של מספר שקופית 6">
            <a:extLst>
              <a:ext uri="{FF2B5EF4-FFF2-40B4-BE49-F238E27FC236}">
                <a16:creationId xmlns:a16="http://schemas.microsoft.com/office/drawing/2014/main" id="{63D40798-FBC6-322B-37AD-7B05E5BADC49}"/>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793404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7428E17-C952-DB6D-985B-32B3175B160A}"/>
              </a:ext>
            </a:extLst>
          </p:cNvPr>
          <p:cNvSpPr>
            <a:spLocks noGrp="1"/>
          </p:cNvSpPr>
          <p:nvPr>
            <p:ph type="title"/>
          </p:nvPr>
        </p:nvSpPr>
        <p:spPr>
          <a:xfrm>
            <a:off x="839788" y="457200"/>
            <a:ext cx="3932237" cy="1600200"/>
          </a:xfrm>
        </p:spPr>
        <p:txBody>
          <a:bodyPr anchor="b"/>
          <a:lstStyle>
            <a:lvl1pPr>
              <a:defRPr sz="3200"/>
            </a:lvl1pPr>
          </a:lstStyle>
          <a:p>
            <a:r>
              <a:rPr lang="he-IL" dirty="0"/>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04C23DD0-A5D6-5635-A346-2BD4910C7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dirty="0"/>
          </a:p>
        </p:txBody>
      </p:sp>
      <p:sp>
        <p:nvSpPr>
          <p:cNvPr id="4" name="מציין מיקום טקסט 3">
            <a:extLst>
              <a:ext uri="{FF2B5EF4-FFF2-40B4-BE49-F238E27FC236}">
                <a16:creationId xmlns:a16="http://schemas.microsoft.com/office/drawing/2014/main" id="{D5D088D8-DC0D-CC71-B6C4-739E781A5D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dirty="0"/>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7F0FE082-2E37-8B8B-0B5E-07C0DC7E0475}"/>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6" name="מציין מיקום של כותרת תחתונה 5">
            <a:extLst>
              <a:ext uri="{FF2B5EF4-FFF2-40B4-BE49-F238E27FC236}">
                <a16:creationId xmlns:a16="http://schemas.microsoft.com/office/drawing/2014/main" id="{8E67F5BA-816A-2D7F-481C-6D8926EB67FE}"/>
              </a:ext>
            </a:extLst>
          </p:cNvPr>
          <p:cNvSpPr>
            <a:spLocks noGrp="1"/>
          </p:cNvSpPr>
          <p:nvPr>
            <p:ph type="ftr" sz="quarter" idx="11"/>
          </p:nvPr>
        </p:nvSpPr>
        <p:spPr/>
        <p:txBody>
          <a:bodyPr/>
          <a:lstStyle/>
          <a:p>
            <a:endParaRPr lang="he-IL" dirty="0"/>
          </a:p>
        </p:txBody>
      </p:sp>
      <p:sp>
        <p:nvSpPr>
          <p:cNvPr id="7" name="מציין מיקום של מספר שקופית 6">
            <a:extLst>
              <a:ext uri="{FF2B5EF4-FFF2-40B4-BE49-F238E27FC236}">
                <a16:creationId xmlns:a16="http://schemas.microsoft.com/office/drawing/2014/main" id="{99A5F420-FC22-DC43-12FB-C8064DBCCA94}"/>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3876169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1B8654D-7D1A-240B-0030-65CD5F67DFA0}"/>
              </a:ext>
            </a:extLst>
          </p:cNvPr>
          <p:cNvSpPr>
            <a:spLocks noGrp="1"/>
          </p:cNvSpPr>
          <p:nvPr>
            <p:ph type="title"/>
          </p:nvPr>
        </p:nvSpPr>
        <p:spPr/>
        <p:txBody>
          <a:bodyPr/>
          <a:lstStyle/>
          <a:p>
            <a:r>
              <a:rPr lang="he-IL" dirty="0"/>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04905E1-74DB-BDE9-CACC-ADF54ABAB9DE}"/>
              </a:ext>
            </a:extLst>
          </p:cNvPr>
          <p:cNvSpPr>
            <a:spLocks noGrp="1"/>
          </p:cNvSpPr>
          <p:nvPr>
            <p:ph type="body" orient="vert" idx="1"/>
          </p:nvPr>
        </p:nvSpPr>
        <p:spPr/>
        <p:txBody>
          <a:bodyPr vert="eaVert"/>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4" name="מציין מיקום של תאריך 3">
            <a:extLst>
              <a:ext uri="{FF2B5EF4-FFF2-40B4-BE49-F238E27FC236}">
                <a16:creationId xmlns:a16="http://schemas.microsoft.com/office/drawing/2014/main" id="{BEDA634F-837B-4B16-FF41-2BF4D3C4AD4F}"/>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5" name="מציין מיקום של כותרת תחתונה 4">
            <a:extLst>
              <a:ext uri="{FF2B5EF4-FFF2-40B4-BE49-F238E27FC236}">
                <a16:creationId xmlns:a16="http://schemas.microsoft.com/office/drawing/2014/main" id="{9EEDB391-FDC2-65ED-BEFF-4DFD5F6A6B15}"/>
              </a:ext>
            </a:extLst>
          </p:cNvPr>
          <p:cNvSpPr>
            <a:spLocks noGrp="1"/>
          </p:cNvSpPr>
          <p:nvPr>
            <p:ph type="ftr" sz="quarter" idx="11"/>
          </p:nvPr>
        </p:nvSpPr>
        <p:spPr/>
        <p:txBody>
          <a:bodyPr/>
          <a:lstStyle/>
          <a:p>
            <a:endParaRPr lang="he-IL" dirty="0"/>
          </a:p>
        </p:txBody>
      </p:sp>
      <p:sp>
        <p:nvSpPr>
          <p:cNvPr id="6" name="מציין מיקום של מספר שקופית 5">
            <a:extLst>
              <a:ext uri="{FF2B5EF4-FFF2-40B4-BE49-F238E27FC236}">
                <a16:creationId xmlns:a16="http://schemas.microsoft.com/office/drawing/2014/main" id="{E08DD000-8DEE-CC47-F38E-F0DA3C4F4971}"/>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2016643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6677188B-5380-8C7E-0A54-B3B98BE4498B}"/>
              </a:ext>
            </a:extLst>
          </p:cNvPr>
          <p:cNvSpPr>
            <a:spLocks noGrp="1"/>
          </p:cNvSpPr>
          <p:nvPr>
            <p:ph type="title" orient="vert"/>
          </p:nvPr>
        </p:nvSpPr>
        <p:spPr>
          <a:xfrm>
            <a:off x="8724900" y="365125"/>
            <a:ext cx="2628900" cy="5811838"/>
          </a:xfrm>
        </p:spPr>
        <p:txBody>
          <a:bodyPr vert="eaVert"/>
          <a:lstStyle/>
          <a:p>
            <a:r>
              <a:rPr lang="he-IL" dirty="0"/>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1A5224D-C56B-52F7-814F-142A4534E1A5}"/>
              </a:ext>
            </a:extLst>
          </p:cNvPr>
          <p:cNvSpPr>
            <a:spLocks noGrp="1"/>
          </p:cNvSpPr>
          <p:nvPr>
            <p:ph type="body" orient="vert" idx="1"/>
          </p:nvPr>
        </p:nvSpPr>
        <p:spPr>
          <a:xfrm>
            <a:off x="838200" y="365125"/>
            <a:ext cx="7734300" cy="5811838"/>
          </a:xfrm>
        </p:spPr>
        <p:txBody>
          <a:bodyPr vert="eaVert"/>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4" name="מציין מיקום של תאריך 3">
            <a:extLst>
              <a:ext uri="{FF2B5EF4-FFF2-40B4-BE49-F238E27FC236}">
                <a16:creationId xmlns:a16="http://schemas.microsoft.com/office/drawing/2014/main" id="{02D6F3A3-2E4A-6D05-B1EC-D0E545B94C8F}"/>
              </a:ext>
            </a:extLst>
          </p:cNvPr>
          <p:cNvSpPr>
            <a:spLocks noGrp="1"/>
          </p:cNvSpPr>
          <p:nvPr>
            <p:ph type="dt" sz="half" idx="10"/>
          </p:nvPr>
        </p:nvSpPr>
        <p:spPr/>
        <p:txBody>
          <a:bodyPr/>
          <a:lstStyle/>
          <a:p>
            <a:fld id="{4409087B-673D-4969-89C0-556840B60A52}" type="datetimeFigureOut">
              <a:rPr lang="he-IL" smtClean="0"/>
              <a:t>ג'/אייר/תשפ"ו</a:t>
            </a:fld>
            <a:endParaRPr lang="he-IL" dirty="0"/>
          </a:p>
        </p:txBody>
      </p:sp>
      <p:sp>
        <p:nvSpPr>
          <p:cNvPr id="5" name="מציין מיקום של כותרת תחתונה 4">
            <a:extLst>
              <a:ext uri="{FF2B5EF4-FFF2-40B4-BE49-F238E27FC236}">
                <a16:creationId xmlns:a16="http://schemas.microsoft.com/office/drawing/2014/main" id="{E8D35D4F-46B2-50A9-2D0E-87CC4B0B706D}"/>
              </a:ext>
            </a:extLst>
          </p:cNvPr>
          <p:cNvSpPr>
            <a:spLocks noGrp="1"/>
          </p:cNvSpPr>
          <p:nvPr>
            <p:ph type="ftr" sz="quarter" idx="11"/>
          </p:nvPr>
        </p:nvSpPr>
        <p:spPr/>
        <p:txBody>
          <a:bodyPr/>
          <a:lstStyle/>
          <a:p>
            <a:endParaRPr lang="he-IL" dirty="0"/>
          </a:p>
        </p:txBody>
      </p:sp>
      <p:sp>
        <p:nvSpPr>
          <p:cNvPr id="6" name="מציין מיקום של מספר שקופית 5">
            <a:extLst>
              <a:ext uri="{FF2B5EF4-FFF2-40B4-BE49-F238E27FC236}">
                <a16:creationId xmlns:a16="http://schemas.microsoft.com/office/drawing/2014/main" id="{353DA586-7CEA-2C45-C871-9F48165FD622}"/>
              </a:ext>
            </a:extLst>
          </p:cNvPr>
          <p:cNvSpPr>
            <a:spLocks noGrp="1"/>
          </p:cNvSpPr>
          <p:nvPr>
            <p:ph type="sldNum" sz="quarter" idx="12"/>
          </p:nvPr>
        </p:nvSpPr>
        <p:spPr/>
        <p:txBody>
          <a:bodyPr/>
          <a:lstStyle/>
          <a:p>
            <a:fld id="{814E3659-64DC-4F63-97C0-EDCB01573F25}" type="slidenum">
              <a:rPr lang="he-IL" smtClean="0"/>
              <a:t>‹#›</a:t>
            </a:fld>
            <a:endParaRPr lang="he-IL" dirty="0"/>
          </a:p>
        </p:txBody>
      </p:sp>
    </p:spTree>
    <p:extLst>
      <p:ext uri="{BB962C8B-B14F-4D97-AF65-F5344CB8AC3E}">
        <p14:creationId xmlns:p14="http://schemas.microsoft.com/office/powerpoint/2010/main" val="2287961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0">
              <a:schemeClr val="accent6">
                <a:lumMod val="0"/>
                <a:lumOff val="100000"/>
              </a:schemeClr>
            </a:gs>
            <a:gs pos="96000">
              <a:schemeClr val="accent6">
                <a:lumMod val="100000"/>
              </a:schemeClr>
            </a:gs>
          </a:gsLst>
          <a:lin ang="7080000" scaled="0"/>
          <a:tileRect/>
        </a:grad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07446731-6119-C5F5-78E3-CC10F816C8F5}"/>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dirty="0"/>
              <a:t>לחץ כדי לערוך סגנון כותרת של תבנית בסיס</a:t>
            </a:r>
          </a:p>
        </p:txBody>
      </p:sp>
      <p:sp>
        <p:nvSpPr>
          <p:cNvPr id="3" name="מציין מיקום טקסט 2">
            <a:extLst>
              <a:ext uri="{FF2B5EF4-FFF2-40B4-BE49-F238E27FC236}">
                <a16:creationId xmlns:a16="http://schemas.microsoft.com/office/drawing/2014/main" id="{215834D5-0B08-1665-E355-0783C9FB730B}"/>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4" name="מציין מיקום של תאריך 3">
            <a:extLst>
              <a:ext uri="{FF2B5EF4-FFF2-40B4-BE49-F238E27FC236}">
                <a16:creationId xmlns:a16="http://schemas.microsoft.com/office/drawing/2014/main" id="{3DFBFE35-2C98-406E-3EC7-A13CF600C09E}"/>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4409087B-673D-4969-89C0-556840B60A52}" type="datetimeFigureOut">
              <a:rPr lang="he-IL" smtClean="0"/>
              <a:t>ג'/אייר/תשפ"ו</a:t>
            </a:fld>
            <a:endParaRPr lang="he-IL" dirty="0"/>
          </a:p>
        </p:txBody>
      </p:sp>
      <p:sp>
        <p:nvSpPr>
          <p:cNvPr id="5" name="מציין מיקום של כותרת תחתונה 4">
            <a:extLst>
              <a:ext uri="{FF2B5EF4-FFF2-40B4-BE49-F238E27FC236}">
                <a16:creationId xmlns:a16="http://schemas.microsoft.com/office/drawing/2014/main" id="{74D58DBC-79C3-0187-965B-3234156F11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dirty="0"/>
          </a:p>
        </p:txBody>
      </p:sp>
      <p:sp>
        <p:nvSpPr>
          <p:cNvPr id="6" name="מציין מיקום של מספר שקופית 5">
            <a:extLst>
              <a:ext uri="{FF2B5EF4-FFF2-40B4-BE49-F238E27FC236}">
                <a16:creationId xmlns:a16="http://schemas.microsoft.com/office/drawing/2014/main" id="{52E4C70B-9CBC-F689-52C4-9DE67B264ED4}"/>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814E3659-64DC-4F63-97C0-EDCB01573F25}" type="slidenum">
              <a:rPr lang="he-IL" smtClean="0"/>
              <a:t>‹#›</a:t>
            </a:fld>
            <a:endParaRPr lang="he-IL" dirty="0"/>
          </a:p>
        </p:txBody>
      </p:sp>
    </p:spTree>
    <p:extLst>
      <p:ext uri="{BB962C8B-B14F-4D97-AF65-F5344CB8AC3E}">
        <p14:creationId xmlns:p14="http://schemas.microsoft.com/office/powerpoint/2010/main" val="3870734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2.xml"/><Relationship Id="rId4" Type="http://schemas.openxmlformats.org/officeDocument/2006/relationships/image" Target="../media/image22.tmp"/></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tmp"/><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hyperlink" Target="https://drive.google.com/file/d/1u9qBgY37mgmlgSJcKttMFOYEu06ENfQ1/view?usp=sharing" TargetMode="External"/><Relationship Id="rId5" Type="http://schemas.openxmlformats.org/officeDocument/2006/relationships/image" Target="../media/image36.png"/><Relationship Id="rId4" Type="http://schemas.openxmlformats.org/officeDocument/2006/relationships/image" Target="../media/image35.tmp"/></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1.tmp"/><Relationship Id="rId2" Type="http://schemas.openxmlformats.org/officeDocument/2006/relationships/image" Target="../media/image40.tmp"/><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tmp"/></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0"/>
                <a:lumOff val="100000"/>
              </a:schemeClr>
            </a:gs>
            <a:gs pos="0">
              <a:schemeClr val="accent6">
                <a:lumMod val="0"/>
                <a:lumOff val="100000"/>
              </a:schemeClr>
            </a:gs>
            <a:gs pos="96000">
              <a:schemeClr val="accent6">
                <a:lumMod val="100000"/>
              </a:schemeClr>
            </a:gs>
          </a:gsLst>
          <a:lin ang="7080000" scaled="0"/>
        </a:gradFill>
        <a:effectLst/>
      </p:bgPr>
    </p:bg>
    <p:spTree>
      <p:nvGrpSpPr>
        <p:cNvPr id="1" name=""/>
        <p:cNvGrpSpPr/>
        <p:nvPr/>
      </p:nvGrpSpPr>
      <p:grpSpPr>
        <a:xfrm>
          <a:off x="0" y="0"/>
          <a:ext cx="0" cy="0"/>
          <a:chOff x="0" y="0"/>
          <a:chExt cx="0" cy="0"/>
        </a:xfrm>
      </p:grpSpPr>
      <p:sp>
        <p:nvSpPr>
          <p:cNvPr id="9" name="תיבת טקסט 8">
            <a:extLst>
              <a:ext uri="{FF2B5EF4-FFF2-40B4-BE49-F238E27FC236}">
                <a16:creationId xmlns:a16="http://schemas.microsoft.com/office/drawing/2014/main" id="{0C10C63D-0518-065B-F268-C01EF4D46B11}"/>
              </a:ext>
            </a:extLst>
          </p:cNvPr>
          <p:cNvSpPr txBox="1"/>
          <p:nvPr/>
        </p:nvSpPr>
        <p:spPr>
          <a:xfrm>
            <a:off x="2468817" y="2259157"/>
            <a:ext cx="7254366" cy="156966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he-IL" sz="4800" b="1" dirty="0">
                <a:effectLst>
                  <a:outerShdw blurRad="50800" dist="38100" dir="2700000" algn="tl" rotWithShape="0">
                    <a:prstClr val="black">
                      <a:alpha val="40000"/>
                    </a:prstClr>
                  </a:outerShdw>
                </a:effectLst>
                <a:latin typeface="David" panose="020E0502060401010101" pitchFamily="34" charset="-79"/>
                <a:cs typeface="David" panose="020E0502060401010101" pitchFamily="34" charset="-79"/>
              </a:rPr>
              <a:t>מימוש בחומרה של אלגוריתם ההצפנה </a:t>
            </a:r>
            <a:r>
              <a:rPr lang="en-US" sz="4800" b="1" dirty="0">
                <a:effectLst>
                  <a:outerShdw blurRad="50800" dist="38100" dir="2700000" algn="tl" rotWithShape="0">
                    <a:prstClr val="black">
                      <a:alpha val="40000"/>
                    </a:prstClr>
                  </a:outerShdw>
                </a:effectLst>
                <a:latin typeface="David" panose="020E0502060401010101" pitchFamily="34" charset="-79"/>
                <a:cs typeface="David" panose="020E0502060401010101" pitchFamily="34" charset="-79"/>
              </a:rPr>
              <a:t>Salsa20</a:t>
            </a:r>
            <a:endParaRPr lang="he-IL" sz="4800" b="1" dirty="0">
              <a:effectLst>
                <a:outerShdw blurRad="50800" dist="38100" dir="2700000" algn="tl" rotWithShape="0">
                  <a:prstClr val="black">
                    <a:alpha val="40000"/>
                  </a:prstClr>
                </a:outerShdw>
              </a:effectLst>
              <a:latin typeface="David" panose="020E0502060401010101" pitchFamily="34" charset="-79"/>
              <a:cs typeface="David" panose="020E0502060401010101" pitchFamily="34" charset="-79"/>
            </a:endParaRPr>
          </a:p>
        </p:txBody>
      </p:sp>
      <p:sp>
        <p:nvSpPr>
          <p:cNvPr id="2" name="תיבת טקסט 1">
            <a:extLst>
              <a:ext uri="{FF2B5EF4-FFF2-40B4-BE49-F238E27FC236}">
                <a16:creationId xmlns:a16="http://schemas.microsoft.com/office/drawing/2014/main" id="{1161D013-D0EC-AB27-120C-A578DE373C76}"/>
              </a:ext>
            </a:extLst>
          </p:cNvPr>
          <p:cNvSpPr txBox="1"/>
          <p:nvPr/>
        </p:nvSpPr>
        <p:spPr>
          <a:xfrm>
            <a:off x="1359031" y="3828817"/>
            <a:ext cx="9473938" cy="830997"/>
          </a:xfrm>
          <a:prstGeom prst="rect">
            <a:avLst/>
          </a:prstGeom>
          <a:noFill/>
        </p:spPr>
        <p:txBody>
          <a:bodyPr wrap="square" rtlCol="1">
            <a:spAutoFit/>
          </a:bodyPr>
          <a:lstStyle/>
          <a:p>
            <a:pPr lvl="0">
              <a:defRPr/>
            </a:pPr>
            <a:r>
              <a:rPr lang="he-IL" sz="2400" dirty="0">
                <a:effectLst>
                  <a:outerShdw blurRad="50800" dist="38100" dir="2700000" algn="tl" rotWithShape="0">
                    <a:prstClr val="black">
                      <a:alpha val="40000"/>
                    </a:prstClr>
                  </a:outerShdw>
                </a:effectLst>
                <a:latin typeface="David" panose="020E0502060401010101" pitchFamily="34" charset="-79"/>
                <a:cs typeface="David" panose="020E0502060401010101" pitchFamily="34" charset="-79"/>
              </a:rPr>
              <a:t>פרויקט גמר באלקטרוניקה – הפקולטה להנדסה ומדעי המחשב, המרכז האקדמי לב</a:t>
            </a:r>
          </a:p>
          <a:p>
            <a:pPr lvl="0">
              <a:defRPr/>
            </a:pPr>
            <a:r>
              <a:rPr lang="he-IL" sz="2400" dirty="0">
                <a:effectLst>
                  <a:outerShdw blurRad="50800" dist="38100" dir="2700000" algn="tl" rotWithShape="0">
                    <a:prstClr val="black">
                      <a:alpha val="40000"/>
                    </a:prstClr>
                  </a:outerShdw>
                </a:effectLst>
                <a:latin typeface="David" panose="020E0502060401010101" pitchFamily="34" charset="-79"/>
                <a:cs typeface="David" panose="020E0502060401010101" pitchFamily="34" charset="-79"/>
              </a:rPr>
              <a:t>מגיש: ניסן משה שלמוב  |  מנחה: מר אורי שטרו</a:t>
            </a:r>
            <a:endParaRPr lang="en-US" sz="2400" dirty="0">
              <a:latin typeface="David" panose="020E0502060401010101" pitchFamily="34" charset="-79"/>
              <a:cs typeface="David" panose="020E0502060401010101" pitchFamily="34" charset="-79"/>
            </a:endParaRPr>
          </a:p>
        </p:txBody>
      </p:sp>
      <p:pic>
        <p:nvPicPr>
          <p:cNvPr id="4" name="תמונה 3">
            <a:extLst>
              <a:ext uri="{FF2B5EF4-FFF2-40B4-BE49-F238E27FC236}">
                <a16:creationId xmlns:a16="http://schemas.microsoft.com/office/drawing/2014/main" id="{55904228-556C-7F98-C86A-3FD93654DE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891498">
            <a:off x="378981" y="690752"/>
            <a:ext cx="2790179" cy="1796772"/>
          </a:xfrm>
          <a:prstGeom prst="rect">
            <a:avLst/>
          </a:prstGeom>
        </p:spPr>
      </p:pic>
      <p:pic>
        <p:nvPicPr>
          <p:cNvPr id="6" name="תמונה 5">
            <a:extLst>
              <a:ext uri="{FF2B5EF4-FFF2-40B4-BE49-F238E27FC236}">
                <a16:creationId xmlns:a16="http://schemas.microsoft.com/office/drawing/2014/main" id="{BE31D61B-5949-DA11-BE09-D10DED580D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341561">
            <a:off x="8853518" y="600153"/>
            <a:ext cx="2849115" cy="2023285"/>
          </a:xfrm>
          <a:prstGeom prst="rect">
            <a:avLst/>
          </a:prstGeom>
        </p:spPr>
      </p:pic>
    </p:spTree>
    <p:extLst>
      <p:ext uri="{BB962C8B-B14F-4D97-AF65-F5344CB8AC3E}">
        <p14:creationId xmlns:p14="http://schemas.microsoft.com/office/powerpoint/2010/main" val="308024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A1E125A9-F1D3-BA52-D873-AF9251802962}"/>
              </a:ext>
            </a:extLst>
          </p:cNvPr>
          <p:cNvSpPr txBox="1"/>
          <p:nvPr/>
        </p:nvSpPr>
        <p:spPr>
          <a:xfrm>
            <a:off x="8286160" y="688157"/>
            <a:ext cx="2818614" cy="646331"/>
          </a:xfrm>
          <a:prstGeom prst="rect">
            <a:avLst/>
          </a:prstGeom>
          <a:noFill/>
        </p:spPr>
        <p:txBody>
          <a:bodyPr wrap="square" rtlCol="1">
            <a:spAutoFit/>
          </a:bodyPr>
          <a:lstStyle/>
          <a:p>
            <a:r>
              <a:rPr lang="he-IL" sz="3600" dirty="0"/>
              <a:t>מטרת הפרויקט</a:t>
            </a:r>
          </a:p>
        </p:txBody>
      </p:sp>
      <p:sp>
        <p:nvSpPr>
          <p:cNvPr id="5" name="Rounded Rectangle 2">
            <a:extLst>
              <a:ext uri="{FF2B5EF4-FFF2-40B4-BE49-F238E27FC236}">
                <a16:creationId xmlns:a16="http://schemas.microsoft.com/office/drawing/2014/main" id="{372343B8-F0F3-9156-FEDB-37BBD9906539}"/>
              </a:ext>
            </a:extLst>
          </p:cNvPr>
          <p:cNvSpPr/>
          <p:nvPr/>
        </p:nvSpPr>
        <p:spPr>
          <a:xfrm>
            <a:off x="7861484" y="1697296"/>
            <a:ext cx="3243290" cy="130985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r" rtl="1"/>
            <a:r>
              <a:rPr lang="he-IL" b="1" dirty="0"/>
              <a:t>🎯</a:t>
            </a:r>
            <a:r>
              <a:rPr b="1" dirty="0"/>
              <a:t> מטרת העל</a:t>
            </a:r>
          </a:p>
          <a:p>
            <a:pPr algn="r" rtl="1"/>
            <a:r>
              <a:rPr dirty="0"/>
              <a:t>תכנון</a:t>
            </a:r>
            <a:r>
              <a:rPr lang="he-IL" dirty="0"/>
              <a:t>, </a:t>
            </a:r>
            <a:r>
              <a:rPr dirty="0"/>
              <a:t>מימוש</a:t>
            </a:r>
            <a:r>
              <a:rPr lang="he-IL" dirty="0"/>
              <a:t> ו</a:t>
            </a:r>
            <a:r>
              <a:rPr dirty="0"/>
              <a:t>אימות של אלגוריתם ההצפנה</a:t>
            </a:r>
            <a:r>
              <a:rPr lang="he-IL" dirty="0"/>
              <a:t> </a:t>
            </a:r>
            <a:r>
              <a:rPr lang="en-US" dirty="0"/>
              <a:t>Salsa20</a:t>
            </a:r>
            <a:r>
              <a:rPr lang="he-IL" dirty="0"/>
              <a:t> על גבי ה- </a:t>
            </a:r>
            <a:r>
              <a:rPr lang="en-US" dirty="0"/>
              <a:t>FPGAs</a:t>
            </a:r>
            <a:r>
              <a:rPr lang="he-IL" dirty="0"/>
              <a:t>.</a:t>
            </a:r>
            <a:endParaRPr dirty="0"/>
          </a:p>
        </p:txBody>
      </p:sp>
      <p:sp>
        <p:nvSpPr>
          <p:cNvPr id="7" name="Rounded Rectangle 2">
            <a:extLst>
              <a:ext uri="{FF2B5EF4-FFF2-40B4-BE49-F238E27FC236}">
                <a16:creationId xmlns:a16="http://schemas.microsoft.com/office/drawing/2014/main" id="{98A20E19-25B1-1606-1B8B-2A6F8579BA26}"/>
              </a:ext>
            </a:extLst>
          </p:cNvPr>
          <p:cNvSpPr/>
          <p:nvPr/>
        </p:nvSpPr>
        <p:spPr>
          <a:xfrm>
            <a:off x="1159145" y="1697295"/>
            <a:ext cx="3243290" cy="130985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r" rtl="1"/>
            <a:r>
              <a:rPr lang="he-IL" dirty="0"/>
              <a:t>⚙️</a:t>
            </a:r>
            <a:r>
              <a:rPr b="1" dirty="0"/>
              <a:t> </a:t>
            </a:r>
            <a:r>
              <a:rPr lang="he-IL" b="1" dirty="0"/>
              <a:t>דגשים מרכזיים</a:t>
            </a:r>
            <a:endParaRPr b="1" dirty="0"/>
          </a:p>
          <a:p>
            <a:pPr marL="285750" indent="-285750" algn="r" rtl="1">
              <a:buFont typeface="Arial" panose="020B0604020202020204" pitchFamily="34" charset="0"/>
              <a:buChar char="•"/>
            </a:pPr>
            <a:r>
              <a:rPr lang="he-IL" dirty="0"/>
              <a:t>אופטימיזציית ביצועים</a:t>
            </a:r>
          </a:p>
          <a:p>
            <a:pPr marL="285750" indent="-285750" algn="r" rtl="1">
              <a:buFont typeface="Arial" panose="020B0604020202020204" pitchFamily="34" charset="0"/>
              <a:buChar char="•"/>
            </a:pPr>
            <a:r>
              <a:rPr lang="he-IL" dirty="0"/>
              <a:t>ניצול משאבים</a:t>
            </a:r>
          </a:p>
          <a:p>
            <a:pPr marL="285750" indent="-285750" algn="r" rtl="1">
              <a:buFont typeface="Arial" panose="020B0604020202020204" pitchFamily="34" charset="0"/>
              <a:buChar char="•"/>
            </a:pPr>
            <a:r>
              <a:rPr lang="he-IL" dirty="0"/>
              <a:t>איזון – שטח/ הספק/ מהירות.</a:t>
            </a:r>
            <a:endParaRPr dirty="0"/>
          </a:p>
        </p:txBody>
      </p:sp>
      <p:sp>
        <p:nvSpPr>
          <p:cNvPr id="8" name="Rounded Rectangle 2">
            <a:extLst>
              <a:ext uri="{FF2B5EF4-FFF2-40B4-BE49-F238E27FC236}">
                <a16:creationId xmlns:a16="http://schemas.microsoft.com/office/drawing/2014/main" id="{54751647-72BB-9187-21AD-CEC5991EB797}"/>
              </a:ext>
            </a:extLst>
          </p:cNvPr>
          <p:cNvSpPr/>
          <p:nvPr/>
        </p:nvSpPr>
        <p:spPr>
          <a:xfrm>
            <a:off x="2780790" y="3850850"/>
            <a:ext cx="6630419" cy="130985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r" rtl="1"/>
            <a:r>
              <a:rPr lang="he-IL" dirty="0"/>
              <a:t>🧩</a:t>
            </a:r>
            <a:r>
              <a:rPr b="1" dirty="0"/>
              <a:t> </a:t>
            </a:r>
            <a:r>
              <a:rPr lang="he-IL" b="1" dirty="0"/>
              <a:t>היבט מחקרי</a:t>
            </a:r>
            <a:endParaRPr b="1" dirty="0"/>
          </a:p>
          <a:p>
            <a:pPr algn="r" rtl="1"/>
            <a:r>
              <a:rPr lang="he-IL" dirty="0"/>
              <a:t>בחינת ארכיטקטורות שונות למימוש האלגוריתם.</a:t>
            </a:r>
            <a:endParaRPr dirty="0"/>
          </a:p>
        </p:txBody>
      </p:sp>
    </p:spTree>
    <p:extLst>
      <p:ext uri="{BB962C8B-B14F-4D97-AF65-F5344CB8AC3E}">
        <p14:creationId xmlns:p14="http://schemas.microsoft.com/office/powerpoint/2010/main" val="1023109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30116-2999-49D6-820E-290284FC97C4}"/>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E95A1834-2729-B513-3A03-64A6308CA00D}"/>
              </a:ext>
            </a:extLst>
          </p:cNvPr>
          <p:cNvSpPr txBox="1"/>
          <p:nvPr/>
        </p:nvSpPr>
        <p:spPr>
          <a:xfrm>
            <a:off x="7871381" y="688157"/>
            <a:ext cx="3233393" cy="646331"/>
          </a:xfrm>
          <a:prstGeom prst="rect">
            <a:avLst/>
          </a:prstGeom>
          <a:noFill/>
        </p:spPr>
        <p:txBody>
          <a:bodyPr wrap="square" rtlCol="1">
            <a:spAutoFit/>
          </a:bodyPr>
          <a:lstStyle/>
          <a:p>
            <a:r>
              <a:rPr lang="he-IL" sz="3600" dirty="0"/>
              <a:t>חשיבות העבודה</a:t>
            </a:r>
          </a:p>
        </p:txBody>
      </p:sp>
      <p:sp>
        <p:nvSpPr>
          <p:cNvPr id="3" name="Rounded Rectangle 2">
            <a:extLst>
              <a:ext uri="{FF2B5EF4-FFF2-40B4-BE49-F238E27FC236}">
                <a16:creationId xmlns:a16="http://schemas.microsoft.com/office/drawing/2014/main" id="{CBD822FE-E235-1E53-6417-FE66BCAED0A6}"/>
              </a:ext>
            </a:extLst>
          </p:cNvPr>
          <p:cNvSpPr/>
          <p:nvPr/>
        </p:nvSpPr>
        <p:spPr>
          <a:xfrm>
            <a:off x="6975836" y="1934852"/>
            <a:ext cx="3808428" cy="298829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 </a:t>
            </a:r>
            <a:r>
              <a:rPr lang="he-IL" b="1" dirty="0"/>
              <a:t>חשיבות החומרה </a:t>
            </a:r>
            <a:endParaRPr b="1" dirty="0"/>
          </a:p>
          <a:p>
            <a:r>
              <a:rPr dirty="0"/>
              <a:t>• ביצועים גבוהים</a:t>
            </a:r>
            <a:endParaRPr lang="he-IL" dirty="0"/>
          </a:p>
          <a:p>
            <a:r>
              <a:rPr dirty="0"/>
              <a:t>• השהיה נמוכה</a:t>
            </a:r>
            <a:r>
              <a:rPr lang="he-IL" dirty="0"/>
              <a:t> - ז</a:t>
            </a:r>
            <a:r>
              <a:rPr dirty="0"/>
              <a:t>מן אמת</a:t>
            </a:r>
          </a:p>
          <a:p>
            <a:r>
              <a:rPr dirty="0"/>
              <a:t>• צריכת אנרגיה נמוכה</a:t>
            </a:r>
          </a:p>
          <a:p>
            <a:r>
              <a:rPr dirty="0"/>
              <a:t>• ניצול יעיל של FPGA</a:t>
            </a:r>
          </a:p>
          <a:p>
            <a:r>
              <a:rPr dirty="0"/>
              <a:t>• אבטחה משופרת</a:t>
            </a:r>
          </a:p>
        </p:txBody>
      </p:sp>
      <p:sp>
        <p:nvSpPr>
          <p:cNvPr id="4" name="Rounded Rectangle 3">
            <a:extLst>
              <a:ext uri="{FF2B5EF4-FFF2-40B4-BE49-F238E27FC236}">
                <a16:creationId xmlns:a16="http://schemas.microsoft.com/office/drawing/2014/main" id="{74A0980B-330C-1401-4EC7-E211A1033B3C}"/>
              </a:ext>
            </a:extLst>
          </p:cNvPr>
          <p:cNvSpPr/>
          <p:nvPr/>
        </p:nvSpPr>
        <p:spPr>
          <a:xfrm>
            <a:off x="1087226" y="1234440"/>
            <a:ext cx="3931920" cy="43891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 </a:t>
            </a:r>
            <a:r>
              <a:rPr lang="he-IL" b="1" dirty="0"/>
              <a:t>ה</a:t>
            </a:r>
            <a:r>
              <a:rPr b="1" dirty="0"/>
              <a:t>תרומה למדע ולציבור</a:t>
            </a:r>
          </a:p>
          <a:p>
            <a:endParaRPr dirty="0"/>
          </a:p>
          <a:p>
            <a:pPr marL="285750" indent="-285750">
              <a:buFont typeface="Arial" panose="020B0604020202020204" pitchFamily="34" charset="0"/>
              <a:buChar char="•"/>
            </a:pPr>
            <a:r>
              <a:rPr b="1" dirty="0"/>
              <a:t>ביטחוני</a:t>
            </a:r>
            <a:r>
              <a:rPr lang="he-IL" b="1" dirty="0"/>
              <a:t> / </a:t>
            </a:r>
            <a:r>
              <a:rPr b="1" dirty="0"/>
              <a:t>צבאי:</a:t>
            </a:r>
            <a:endParaRPr lang="he-IL" b="1" dirty="0"/>
          </a:p>
          <a:p>
            <a:pPr marL="742950" lvl="1" indent="-285750">
              <a:buFont typeface="Arial" panose="020B0604020202020204" pitchFamily="34" charset="0"/>
              <a:buChar char="•"/>
            </a:pPr>
            <a:r>
              <a:rPr dirty="0"/>
              <a:t>הצפנה בזמן אמת</a:t>
            </a:r>
            <a:endParaRPr lang="he-IL" dirty="0"/>
          </a:p>
          <a:p>
            <a:pPr marL="742950" lvl="1" indent="-285750">
              <a:buFont typeface="Arial" panose="020B0604020202020204" pitchFamily="34" charset="0"/>
              <a:buChar char="•"/>
            </a:pPr>
            <a:r>
              <a:rPr lang="he-IL" dirty="0"/>
              <a:t>מאובטח</a:t>
            </a:r>
            <a:br>
              <a:rPr lang="en-US" dirty="0"/>
            </a:br>
            <a:endParaRPr dirty="0"/>
          </a:p>
          <a:p>
            <a:pPr marL="285750" indent="-285750">
              <a:buFont typeface="Arial" panose="020B0604020202020204" pitchFamily="34" charset="0"/>
              <a:buChar char="•"/>
            </a:pPr>
            <a:r>
              <a:rPr b="1" dirty="0"/>
              <a:t>רפואי:</a:t>
            </a:r>
            <a:r>
              <a:rPr lang="he-IL" b="1" dirty="0"/>
              <a:t> </a:t>
            </a:r>
          </a:p>
          <a:p>
            <a:pPr marL="742950" lvl="1" indent="-285750">
              <a:buFont typeface="Arial" panose="020B0604020202020204" pitchFamily="34" charset="0"/>
              <a:buChar char="•"/>
            </a:pPr>
            <a:r>
              <a:rPr dirty="0"/>
              <a:t>הגנה על מידע אישי</a:t>
            </a:r>
          </a:p>
          <a:p>
            <a:endParaRPr dirty="0"/>
          </a:p>
          <a:p>
            <a:pPr marL="285750" indent="-285750">
              <a:buFont typeface="Arial" panose="020B0604020202020204" pitchFamily="34" charset="0"/>
              <a:buChar char="•"/>
            </a:pPr>
            <a:r>
              <a:rPr b="1" dirty="0"/>
              <a:t>מדעי:</a:t>
            </a:r>
            <a:r>
              <a:rPr lang="he-IL" b="1" dirty="0"/>
              <a:t> </a:t>
            </a:r>
          </a:p>
          <a:p>
            <a:pPr marL="742950" lvl="1" indent="-285750">
              <a:buFont typeface="Arial" panose="020B0604020202020204" pitchFamily="34" charset="0"/>
              <a:buChar char="•"/>
            </a:pPr>
            <a:r>
              <a:rPr dirty="0"/>
              <a:t>ניתוח</a:t>
            </a:r>
            <a:r>
              <a:rPr lang="he-IL" dirty="0"/>
              <a:t> האלגוריתם ב</a:t>
            </a:r>
            <a:r>
              <a:rPr dirty="0"/>
              <a:t>חומרה</a:t>
            </a:r>
            <a:endParaRPr lang="he-IL" dirty="0"/>
          </a:p>
          <a:p>
            <a:pPr marL="742950" lvl="1" indent="-285750">
              <a:buFont typeface="Arial" panose="020B0604020202020204" pitchFamily="34" charset="0"/>
              <a:buChar char="•"/>
            </a:pPr>
            <a:r>
              <a:rPr dirty="0"/>
              <a:t>השוואת ארכיטקטורות</a:t>
            </a:r>
          </a:p>
          <a:p>
            <a:endParaRPr dirty="0"/>
          </a:p>
          <a:p>
            <a:pPr marL="285750" indent="-285750">
              <a:buFont typeface="Arial" panose="020B0604020202020204" pitchFamily="34" charset="0"/>
              <a:buChar char="•"/>
            </a:pPr>
            <a:r>
              <a:rPr b="1" dirty="0"/>
              <a:t>חברתי:</a:t>
            </a:r>
            <a:r>
              <a:rPr lang="he-IL" b="1" dirty="0"/>
              <a:t> </a:t>
            </a:r>
          </a:p>
          <a:p>
            <a:pPr marL="742950" lvl="1" indent="-285750">
              <a:buFont typeface="Arial" panose="020B0604020202020204" pitchFamily="34" charset="0"/>
              <a:buChar char="•"/>
            </a:pPr>
            <a:r>
              <a:rPr dirty="0"/>
              <a:t>חיזוק פרטיות </a:t>
            </a:r>
            <a:r>
              <a:rPr lang="he-IL" dirty="0"/>
              <a:t>ה</a:t>
            </a:r>
            <a:r>
              <a:rPr dirty="0"/>
              <a:t>מידע</a:t>
            </a:r>
          </a:p>
        </p:txBody>
      </p:sp>
    </p:spTree>
    <p:extLst>
      <p:ext uri="{BB962C8B-B14F-4D97-AF65-F5344CB8AC3E}">
        <p14:creationId xmlns:p14="http://schemas.microsoft.com/office/powerpoint/2010/main" val="357930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B31C1-5643-71CA-E83C-FC1DAFA806D1}"/>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C590880B-4521-480D-2B33-59D68D1BBA97}"/>
              </a:ext>
            </a:extLst>
          </p:cNvPr>
          <p:cNvSpPr txBox="1"/>
          <p:nvPr/>
        </p:nvSpPr>
        <p:spPr>
          <a:xfrm>
            <a:off x="6532775" y="688157"/>
            <a:ext cx="4571999" cy="646331"/>
          </a:xfrm>
          <a:prstGeom prst="rect">
            <a:avLst/>
          </a:prstGeom>
          <a:noFill/>
        </p:spPr>
        <p:txBody>
          <a:bodyPr wrap="square" rtlCol="1">
            <a:spAutoFit/>
          </a:bodyPr>
          <a:lstStyle/>
          <a:p>
            <a:r>
              <a:rPr lang="he-IL" sz="3600" dirty="0"/>
              <a:t>מבנה אלגוריתם </a:t>
            </a:r>
            <a:r>
              <a:rPr lang="en-US" sz="3600" dirty="0"/>
              <a:t>Salsa20</a:t>
            </a:r>
            <a:endParaRPr lang="he-IL" sz="3600" dirty="0"/>
          </a:p>
        </p:txBody>
      </p:sp>
      <p:sp>
        <p:nvSpPr>
          <p:cNvPr id="3" name="תיבת טקסט 2">
            <a:extLst>
              <a:ext uri="{FF2B5EF4-FFF2-40B4-BE49-F238E27FC236}">
                <a16:creationId xmlns:a16="http://schemas.microsoft.com/office/drawing/2014/main" id="{E538AB20-36D9-DB2A-B743-966981E2FDBD}"/>
              </a:ext>
            </a:extLst>
          </p:cNvPr>
          <p:cNvSpPr txBox="1"/>
          <p:nvPr/>
        </p:nvSpPr>
        <p:spPr>
          <a:xfrm>
            <a:off x="5627802" y="1666187"/>
            <a:ext cx="5301006" cy="4801314"/>
          </a:xfrm>
          <a:prstGeom prst="rect">
            <a:avLst/>
          </a:prstGeom>
          <a:noFill/>
        </p:spPr>
        <p:txBody>
          <a:bodyPr wrap="square" rtlCol="1">
            <a:spAutoFit/>
          </a:bodyPr>
          <a:lstStyle/>
          <a:p>
            <a:pPr marL="342900" indent="-342900">
              <a:buFont typeface="+mj-lt"/>
              <a:buAutoNum type="arabicPeriod"/>
            </a:pPr>
            <a:r>
              <a:rPr lang="he-IL" dirty="0"/>
              <a:t>ייצור חתימה (</a:t>
            </a:r>
            <a:r>
              <a:rPr lang="en-US" dirty="0"/>
              <a:t>Hash</a:t>
            </a:r>
            <a:r>
              <a:rPr lang="he-IL" dirty="0"/>
              <a:t>) בגודל 512 ביטים (64 בתים = 16 מילים), ע"י הפעלת פונקציית </a:t>
            </a:r>
            <a:r>
              <a:rPr lang="en-US" dirty="0"/>
              <a:t>Double</a:t>
            </a:r>
            <a:r>
              <a:rPr lang="he-IL" dirty="0"/>
              <a:t> מספר פעמים על המטריצה ההתחלתית המורכבת מ:</a:t>
            </a:r>
          </a:p>
          <a:p>
            <a:pPr marL="742950" lvl="1" indent="-285750">
              <a:buFont typeface="Arial" panose="020B0604020202020204" pitchFamily="34" charset="0"/>
              <a:buChar char="•"/>
            </a:pPr>
            <a:r>
              <a:rPr lang="he-IL" dirty="0"/>
              <a:t>מפתח (</a:t>
            </a:r>
            <a:r>
              <a:rPr lang="en-US" dirty="0"/>
              <a:t>Key</a:t>
            </a:r>
            <a:r>
              <a:rPr lang="he-IL" dirty="0"/>
              <a:t>) בגודל 256 ביט.</a:t>
            </a:r>
          </a:p>
          <a:p>
            <a:pPr marL="742950" lvl="1" indent="-285750">
              <a:buFont typeface="Arial" panose="020B0604020202020204" pitchFamily="34" charset="0"/>
              <a:buChar char="•"/>
            </a:pPr>
            <a:r>
              <a:rPr lang="he-IL" dirty="0"/>
              <a:t>מספר אקראי (</a:t>
            </a:r>
            <a:r>
              <a:rPr lang="en-US" dirty="0"/>
              <a:t>Nonce</a:t>
            </a:r>
            <a:r>
              <a:rPr lang="he-IL" dirty="0"/>
              <a:t>)</a:t>
            </a:r>
            <a:r>
              <a:rPr lang="en-US" dirty="0"/>
              <a:t> </a:t>
            </a:r>
            <a:r>
              <a:rPr lang="he-IL" dirty="0"/>
              <a:t>בגודל 64 ביטים.</a:t>
            </a:r>
          </a:p>
          <a:p>
            <a:pPr marL="742950" lvl="1" indent="-285750">
              <a:buFont typeface="Arial" panose="020B0604020202020204" pitchFamily="34" charset="0"/>
              <a:buChar char="•"/>
            </a:pPr>
            <a:r>
              <a:rPr lang="he-IL" dirty="0"/>
              <a:t>מונה בלוקים (</a:t>
            </a:r>
            <a:r>
              <a:rPr lang="en-US" dirty="0"/>
              <a:t>Counter</a:t>
            </a:r>
            <a:r>
              <a:rPr lang="he-IL" dirty="0"/>
              <a:t>) בגודל 64 ביט.</a:t>
            </a:r>
          </a:p>
          <a:p>
            <a:pPr marL="742950" lvl="1" indent="-285750">
              <a:buFont typeface="Arial" panose="020B0604020202020204" pitchFamily="34" charset="0"/>
              <a:buChar char="•"/>
            </a:pPr>
            <a:r>
              <a:rPr lang="he-IL" dirty="0"/>
              <a:t>4 מילים קובעות (</a:t>
            </a:r>
            <a:r>
              <a:rPr lang="en-US" dirty="0"/>
              <a:t>Constant</a:t>
            </a:r>
            <a:r>
              <a:rPr lang="he-IL" dirty="0"/>
              <a:t>) בגודל 128 ביט.</a:t>
            </a:r>
            <a:br>
              <a:rPr lang="en-US" dirty="0"/>
            </a:br>
            <a:endParaRPr lang="he-IL" dirty="0"/>
          </a:p>
          <a:p>
            <a:pPr marL="342900" indent="-342900">
              <a:buFont typeface="+mj-lt"/>
              <a:buAutoNum type="arabicPeriod"/>
            </a:pPr>
            <a:r>
              <a:rPr lang="he-IL" dirty="0"/>
              <a:t>לאחר מכן מחברים בין ה- </a:t>
            </a:r>
            <a:r>
              <a:rPr lang="en-US" dirty="0"/>
              <a:t>Hash</a:t>
            </a:r>
            <a:r>
              <a:rPr lang="he-IL" dirty="0"/>
              <a:t> לבין המטריצה ההתחלתית – פונקציית הגיבוב .</a:t>
            </a:r>
            <a:br>
              <a:rPr lang="en-US" dirty="0"/>
            </a:br>
            <a:endParaRPr lang="he-IL" dirty="0"/>
          </a:p>
          <a:p>
            <a:pPr marL="342900" indent="-342900">
              <a:buFont typeface="+mj-lt"/>
              <a:buAutoNum type="arabicPeriod"/>
            </a:pPr>
            <a:r>
              <a:rPr lang="he-IL" dirty="0"/>
              <a:t>הערך המוצפן מתקבל ע"י פעולת </a:t>
            </a:r>
            <a:r>
              <a:rPr lang="en-US" dirty="0"/>
              <a:t>XOR</a:t>
            </a:r>
            <a:r>
              <a:rPr lang="he-IL" dirty="0"/>
              <a:t> בין תוצאת החיבור לבין ה- </a:t>
            </a:r>
            <a:r>
              <a:rPr lang="en-US" dirty="0"/>
              <a:t>Plain Text</a:t>
            </a:r>
            <a:r>
              <a:rPr lang="he-IL" dirty="0"/>
              <a:t>.</a:t>
            </a:r>
            <a:br>
              <a:rPr lang="en-US" dirty="0"/>
            </a:br>
            <a:endParaRPr lang="he-IL" dirty="0"/>
          </a:p>
          <a:p>
            <a:pPr marL="342900" indent="-342900">
              <a:buFont typeface="+mj-lt"/>
              <a:buAutoNum type="arabicPeriod"/>
            </a:pPr>
            <a:r>
              <a:rPr lang="he-IL" dirty="0"/>
              <a:t>פעולת </a:t>
            </a:r>
            <a:r>
              <a:rPr lang="en-US" dirty="0"/>
              <a:t>XOR</a:t>
            </a:r>
            <a:r>
              <a:rPr lang="he-IL" dirty="0"/>
              <a:t> בין תוצאת החיבור לבין ה- </a:t>
            </a:r>
            <a:r>
              <a:rPr lang="en-US" dirty="0"/>
              <a:t>Cipher Text</a:t>
            </a:r>
            <a:r>
              <a:rPr lang="he-IL" dirty="0"/>
              <a:t> יתן לנו את ה- </a:t>
            </a:r>
            <a:r>
              <a:rPr lang="en-US" dirty="0"/>
              <a:t>Plain Text</a:t>
            </a:r>
            <a:r>
              <a:rPr lang="he-IL" dirty="0"/>
              <a:t>.</a:t>
            </a:r>
          </a:p>
          <a:p>
            <a:pPr marL="342900" indent="-342900">
              <a:buFont typeface="+mj-lt"/>
              <a:buAutoNum type="arabicPeriod"/>
            </a:pPr>
            <a:endParaRPr lang="he-IL" dirty="0"/>
          </a:p>
        </p:txBody>
      </p:sp>
      <p:graphicFrame>
        <p:nvGraphicFramePr>
          <p:cNvPr id="4" name="טבלה 3">
            <a:extLst>
              <a:ext uri="{FF2B5EF4-FFF2-40B4-BE49-F238E27FC236}">
                <a16:creationId xmlns:a16="http://schemas.microsoft.com/office/drawing/2014/main" id="{9D99833C-BC72-A887-A68C-85EA05245F63}"/>
              </a:ext>
            </a:extLst>
          </p:cNvPr>
          <p:cNvGraphicFramePr>
            <a:graphicFrameLocks noGrp="1"/>
          </p:cNvGraphicFramePr>
          <p:nvPr>
            <p:extLst>
              <p:ext uri="{D42A27DB-BD31-4B8C-83A1-F6EECF244321}">
                <p14:modId xmlns:p14="http://schemas.microsoft.com/office/powerpoint/2010/main" val="554273849"/>
              </p:ext>
            </p:extLst>
          </p:nvPr>
        </p:nvGraphicFramePr>
        <p:xfrm>
          <a:off x="1263192" y="1467992"/>
          <a:ext cx="4104388" cy="3922016"/>
        </p:xfrm>
        <a:graphic>
          <a:graphicData uri="http://schemas.openxmlformats.org/drawingml/2006/table">
            <a:tbl>
              <a:tblPr rtl="1" firstRow="1" firstCol="1" bandRow="1">
                <a:tableStyleId>{D7AC3CCA-C797-4891-BE02-D94E43425B78}</a:tableStyleId>
              </a:tblPr>
              <a:tblGrid>
                <a:gridCol w="1080361">
                  <a:extLst>
                    <a:ext uri="{9D8B030D-6E8A-4147-A177-3AD203B41FA5}">
                      <a16:colId xmlns:a16="http://schemas.microsoft.com/office/drawing/2014/main" val="3139790275"/>
                    </a:ext>
                  </a:extLst>
                </a:gridCol>
                <a:gridCol w="1008009">
                  <a:extLst>
                    <a:ext uri="{9D8B030D-6E8A-4147-A177-3AD203B41FA5}">
                      <a16:colId xmlns:a16="http://schemas.microsoft.com/office/drawing/2014/main" val="443756061"/>
                    </a:ext>
                  </a:extLst>
                </a:gridCol>
                <a:gridCol w="1008009">
                  <a:extLst>
                    <a:ext uri="{9D8B030D-6E8A-4147-A177-3AD203B41FA5}">
                      <a16:colId xmlns:a16="http://schemas.microsoft.com/office/drawing/2014/main" val="3375719711"/>
                    </a:ext>
                  </a:extLst>
                </a:gridCol>
                <a:gridCol w="1008009">
                  <a:extLst>
                    <a:ext uri="{9D8B030D-6E8A-4147-A177-3AD203B41FA5}">
                      <a16:colId xmlns:a16="http://schemas.microsoft.com/office/drawing/2014/main" val="263900866"/>
                    </a:ext>
                  </a:extLst>
                </a:gridCol>
              </a:tblGrid>
              <a:tr h="671548">
                <a:tc>
                  <a:txBody>
                    <a:bodyPr/>
                    <a:lstStyle/>
                    <a:p>
                      <a:pPr algn="ctr" rtl="1">
                        <a:lnSpc>
                          <a:spcPct val="107000"/>
                        </a:lnSpc>
                        <a:spcAft>
                          <a:spcPts val="800"/>
                        </a:spcAft>
                        <a:buNone/>
                      </a:pPr>
                      <a:r>
                        <a:rPr lang="en-US" sz="1600" dirty="0">
                          <a:effectLst/>
                        </a:rPr>
                        <a:t>K2</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(0,3)</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K1</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(0,2)</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K0</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(0,1)</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C0</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(0,0)</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extLst>
                  <a:ext uri="{0D108BD9-81ED-4DB2-BD59-A6C34878D82A}">
                    <a16:rowId xmlns:a16="http://schemas.microsoft.com/office/drawing/2014/main" val="1006375092"/>
                  </a:ext>
                </a:extLst>
              </a:tr>
              <a:tr h="671548">
                <a:tc>
                  <a:txBody>
                    <a:bodyPr/>
                    <a:lstStyle/>
                    <a:p>
                      <a:pPr algn="ctr" rtl="1">
                        <a:lnSpc>
                          <a:spcPct val="107000"/>
                        </a:lnSpc>
                        <a:spcAft>
                          <a:spcPts val="800"/>
                        </a:spcAft>
                        <a:buNone/>
                      </a:pPr>
                      <a:r>
                        <a:rPr lang="en-US" sz="1600" dirty="0">
                          <a:effectLst/>
                        </a:rPr>
                        <a:t>N1</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(1,3)</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N0</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(1,2)</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C1</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(1,1)</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K3</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(1,0)</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extLst>
                  <a:ext uri="{0D108BD9-81ED-4DB2-BD59-A6C34878D82A}">
                    <a16:rowId xmlns:a16="http://schemas.microsoft.com/office/drawing/2014/main" val="3243015140"/>
                  </a:ext>
                </a:extLst>
              </a:tr>
              <a:tr h="671548">
                <a:tc>
                  <a:txBody>
                    <a:bodyPr/>
                    <a:lstStyle/>
                    <a:p>
                      <a:pPr algn="ctr" rtl="1">
                        <a:lnSpc>
                          <a:spcPct val="107000"/>
                        </a:lnSpc>
                        <a:spcAft>
                          <a:spcPts val="800"/>
                        </a:spcAft>
                        <a:buNone/>
                      </a:pPr>
                      <a:r>
                        <a:rPr lang="en-US" sz="1600" dirty="0">
                          <a:effectLst/>
                        </a:rPr>
                        <a:t>K4</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(2,3)</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C2</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(2,2)</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Cnt1</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(2,1)</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Cnt0</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(2,0)</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extLst>
                  <a:ext uri="{0D108BD9-81ED-4DB2-BD59-A6C34878D82A}">
                    <a16:rowId xmlns:a16="http://schemas.microsoft.com/office/drawing/2014/main" val="4100113063"/>
                  </a:ext>
                </a:extLst>
              </a:tr>
              <a:tr h="671548">
                <a:tc>
                  <a:txBody>
                    <a:bodyPr/>
                    <a:lstStyle/>
                    <a:p>
                      <a:pPr algn="ctr" rtl="1">
                        <a:lnSpc>
                          <a:spcPct val="107000"/>
                        </a:lnSpc>
                        <a:spcAft>
                          <a:spcPts val="800"/>
                        </a:spcAft>
                        <a:buNone/>
                      </a:pPr>
                      <a:r>
                        <a:rPr lang="en-US" sz="1600" dirty="0">
                          <a:effectLst/>
                        </a:rPr>
                        <a:t>C3</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(3,3)</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K7</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(3,2)</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K6</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(3,1)</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1">
                        <a:lnSpc>
                          <a:spcPct val="107000"/>
                        </a:lnSpc>
                        <a:spcAft>
                          <a:spcPts val="800"/>
                        </a:spcAft>
                        <a:buNone/>
                      </a:pPr>
                      <a:r>
                        <a:rPr lang="en-US" sz="1600" dirty="0">
                          <a:effectLst/>
                        </a:rPr>
                        <a:t>K5</a:t>
                      </a:r>
                    </a:p>
                    <a:p>
                      <a:pPr algn="ctr" rtl="1">
                        <a:lnSpc>
                          <a:spcPct val="107000"/>
                        </a:lnSpc>
                        <a:spcAft>
                          <a:spcPts val="800"/>
                        </a:spcAft>
                        <a:buNone/>
                      </a:pPr>
                      <a:r>
                        <a:rPr lang="en-US" sz="1600" dirty="0">
                          <a:effectLst/>
                        </a:rPr>
                        <a:t>32 bits</a:t>
                      </a:r>
                    </a:p>
                    <a:p>
                      <a:pPr algn="ctr" rtl="1">
                        <a:lnSpc>
                          <a:spcPct val="107000"/>
                        </a:lnSpc>
                        <a:spcAft>
                          <a:spcPts val="800"/>
                        </a:spcAft>
                        <a:buNone/>
                      </a:pPr>
                      <a:r>
                        <a:rPr lang="en-US" sz="1600" dirty="0">
                          <a:effectLst/>
                        </a:rPr>
                        <a:t>(3,0)</a:t>
                      </a:r>
                      <a:endParaRPr lang="en-US" sz="16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extLst>
                  <a:ext uri="{0D108BD9-81ED-4DB2-BD59-A6C34878D82A}">
                    <a16:rowId xmlns:a16="http://schemas.microsoft.com/office/drawing/2014/main" val="4101472167"/>
                  </a:ext>
                </a:extLst>
              </a:tr>
            </a:tbl>
          </a:graphicData>
        </a:graphic>
      </p:graphicFrame>
    </p:spTree>
    <p:extLst>
      <p:ext uri="{BB962C8B-B14F-4D97-AF65-F5344CB8AC3E}">
        <p14:creationId xmlns:p14="http://schemas.microsoft.com/office/powerpoint/2010/main" val="2796763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54DCC-392F-CA6E-AE93-70BCC8260187}"/>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671024C3-23E2-A7CE-B199-2E5727E7266A}"/>
              </a:ext>
            </a:extLst>
          </p:cNvPr>
          <p:cNvSpPr txBox="1"/>
          <p:nvPr/>
        </p:nvSpPr>
        <p:spPr>
          <a:xfrm>
            <a:off x="4392891" y="688157"/>
            <a:ext cx="6711883" cy="646331"/>
          </a:xfrm>
          <a:prstGeom prst="rect">
            <a:avLst/>
          </a:prstGeom>
          <a:noFill/>
        </p:spPr>
        <p:txBody>
          <a:bodyPr wrap="square" rtlCol="1">
            <a:spAutoFit/>
          </a:bodyPr>
          <a:lstStyle/>
          <a:p>
            <a:r>
              <a:rPr lang="he-IL" sz="3600" dirty="0"/>
              <a:t>פונקציית הבסיס – </a:t>
            </a:r>
            <a:r>
              <a:rPr lang="en-US" sz="3600" dirty="0"/>
              <a:t>Quarter Round</a:t>
            </a:r>
            <a:endParaRPr lang="he-IL" sz="3600" dirty="0"/>
          </a:p>
        </p:txBody>
      </p:sp>
      <p:sp>
        <p:nvSpPr>
          <p:cNvPr id="6" name="תיבת טקסט 5">
            <a:extLst>
              <a:ext uri="{FF2B5EF4-FFF2-40B4-BE49-F238E27FC236}">
                <a16:creationId xmlns:a16="http://schemas.microsoft.com/office/drawing/2014/main" id="{9FCFEF26-42C6-0278-A385-7C64A146E1CB}"/>
              </a:ext>
            </a:extLst>
          </p:cNvPr>
          <p:cNvSpPr txBox="1"/>
          <p:nvPr/>
        </p:nvSpPr>
        <p:spPr>
          <a:xfrm>
            <a:off x="5109327" y="1668544"/>
            <a:ext cx="5995447" cy="3693319"/>
          </a:xfrm>
          <a:prstGeom prst="rect">
            <a:avLst/>
          </a:prstGeom>
          <a:noFill/>
        </p:spPr>
        <p:txBody>
          <a:bodyPr wrap="square" rtlCol="1">
            <a:spAutoFit/>
          </a:bodyPr>
          <a:lstStyle/>
          <a:p>
            <a:pPr marL="285750" indent="-285750">
              <a:buFont typeface="Arial" panose="020B0604020202020204" pitchFamily="34" charset="0"/>
              <a:buChar char="•"/>
            </a:pPr>
            <a:r>
              <a:rPr lang="en-US" b="1" dirty="0"/>
              <a:t>Inputs</a:t>
            </a:r>
            <a:endParaRPr lang="he-IL" b="1" dirty="0"/>
          </a:p>
          <a:p>
            <a:pPr marL="742950" lvl="1" indent="-285750">
              <a:buFont typeface="Arial" panose="020B0604020202020204" pitchFamily="34" charset="0"/>
              <a:buChar char="•"/>
            </a:pPr>
            <a:r>
              <a:rPr lang="he-IL" dirty="0"/>
              <a:t>4 מילים – 128 ביט.</a:t>
            </a:r>
          </a:p>
          <a:p>
            <a:pPr marL="285750" indent="-285750">
              <a:buFont typeface="Arial" panose="020B0604020202020204" pitchFamily="34" charset="0"/>
              <a:buChar char="•"/>
            </a:pPr>
            <a:r>
              <a:rPr lang="en-US" b="1" dirty="0"/>
              <a:t>Outputs</a:t>
            </a:r>
            <a:endParaRPr lang="he-IL" b="1" dirty="0"/>
          </a:p>
          <a:p>
            <a:pPr marL="742950" lvl="1" indent="-285750">
              <a:buFont typeface="Arial" panose="020B0604020202020204" pitchFamily="34" charset="0"/>
              <a:buChar char="•"/>
            </a:pPr>
            <a:r>
              <a:rPr lang="he-IL" dirty="0"/>
              <a:t>4 מילים מעורבלים – 128 ביט.</a:t>
            </a:r>
          </a:p>
          <a:p>
            <a:pPr marL="285750" indent="-285750">
              <a:buFont typeface="Arial" panose="020B0604020202020204" pitchFamily="34" charset="0"/>
              <a:buChar char="•"/>
            </a:pPr>
            <a:r>
              <a:rPr lang="en-US" b="1" dirty="0"/>
              <a:t>Description</a:t>
            </a:r>
            <a:endParaRPr lang="he-IL" b="1" dirty="0"/>
          </a:p>
          <a:p>
            <a:pPr marL="742950" lvl="1" indent="-285750">
              <a:buFont typeface="Arial" panose="020B0604020202020204" pitchFamily="34" charset="0"/>
              <a:buChar char="•"/>
            </a:pPr>
            <a:r>
              <a:rPr lang="he-IL" dirty="0"/>
              <a:t>הפונקציה מערבלת את ארבעת המילים כמוצג באיור.</a:t>
            </a:r>
          </a:p>
          <a:p>
            <a:pPr marL="742950" lvl="1" indent="-285750">
              <a:buFont typeface="Arial" panose="020B0604020202020204" pitchFamily="34" charset="0"/>
              <a:buChar char="•"/>
            </a:pPr>
            <a:r>
              <a:rPr lang="he-IL" dirty="0"/>
              <a:t>הערבול נעשה ע"י:</a:t>
            </a:r>
          </a:p>
          <a:p>
            <a:pPr marL="1657350" lvl="3" indent="-285750">
              <a:buFont typeface="Arial" panose="020B0604020202020204" pitchFamily="34" charset="0"/>
              <a:buChar char="•"/>
            </a:pPr>
            <a:r>
              <a:rPr lang="he-IL" dirty="0"/>
              <a:t>טרנספורמציות של </a:t>
            </a:r>
            <a:r>
              <a:rPr lang="en-US" dirty="0"/>
              <a:t>xor</a:t>
            </a:r>
            <a:endParaRPr lang="he-IL" dirty="0"/>
          </a:p>
          <a:p>
            <a:pPr marL="1657350" lvl="3" indent="-285750">
              <a:buFont typeface="Arial" panose="020B0604020202020204" pitchFamily="34" charset="0"/>
              <a:buChar char="•"/>
            </a:pPr>
            <a:r>
              <a:rPr lang="he-IL" dirty="0"/>
              <a:t>חיבור </a:t>
            </a:r>
          </a:p>
          <a:p>
            <a:pPr marL="1657350" lvl="3" indent="-285750">
              <a:buFont typeface="Arial" panose="020B0604020202020204" pitchFamily="34" charset="0"/>
              <a:buChar char="•"/>
            </a:pPr>
            <a:r>
              <a:rPr lang="he-IL" dirty="0"/>
              <a:t>הזזות מעגליות שמאלה (</a:t>
            </a:r>
            <a:r>
              <a:rPr lang="en-US" dirty="0"/>
              <a:t>rotate</a:t>
            </a:r>
            <a:r>
              <a:rPr lang="he-IL"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he-IL" dirty="0"/>
              <a:t>פונקציה זו מעניקה משמעות לשם </a:t>
            </a:r>
            <a:r>
              <a:rPr lang="en-US" dirty="0"/>
              <a:t>Salsa</a:t>
            </a:r>
            <a:r>
              <a:rPr lang="he-IL" dirty="0"/>
              <a:t>, בכך שהיא מתאפיינת בתנועה מהירה, מחזורית וקצבית של פעולות החוזרות על עצמן.</a:t>
            </a:r>
            <a:endParaRPr lang="en-US" dirty="0"/>
          </a:p>
        </p:txBody>
      </p:sp>
      <p:pic>
        <p:nvPicPr>
          <p:cNvPr id="8" name="תמונה 7">
            <a:extLst>
              <a:ext uri="{FF2B5EF4-FFF2-40B4-BE49-F238E27FC236}">
                <a16:creationId xmlns:a16="http://schemas.microsoft.com/office/drawing/2014/main" id="{071BDCD1-4C63-526B-6E3B-37BDC26DB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407" y="1545262"/>
            <a:ext cx="4267570" cy="3939881"/>
          </a:xfrm>
          <a:prstGeom prst="rect">
            <a:avLst/>
          </a:prstGeom>
        </p:spPr>
      </p:pic>
    </p:spTree>
    <p:extLst>
      <p:ext uri="{BB962C8B-B14F-4D97-AF65-F5344CB8AC3E}">
        <p14:creationId xmlns:p14="http://schemas.microsoft.com/office/powerpoint/2010/main" val="3500699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8CA99-5A30-F3A5-E250-95B95B4054A7}"/>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A8029326-4675-64AA-27A3-B32C97E1D96F}"/>
              </a:ext>
            </a:extLst>
          </p:cNvPr>
          <p:cNvSpPr txBox="1"/>
          <p:nvPr/>
        </p:nvSpPr>
        <p:spPr>
          <a:xfrm>
            <a:off x="3874416" y="688157"/>
            <a:ext cx="7230358" cy="646331"/>
          </a:xfrm>
          <a:prstGeom prst="rect">
            <a:avLst/>
          </a:prstGeom>
          <a:noFill/>
        </p:spPr>
        <p:txBody>
          <a:bodyPr wrap="square" rtlCol="1">
            <a:spAutoFit/>
          </a:bodyPr>
          <a:lstStyle/>
          <a:p>
            <a:r>
              <a:rPr lang="he-IL" sz="3600" dirty="0"/>
              <a:t>פונקציית </a:t>
            </a:r>
            <a:r>
              <a:rPr lang="en-US" sz="3600" dirty="0"/>
              <a:t>Row Round</a:t>
            </a:r>
            <a:endParaRPr lang="he-IL" sz="3600" dirty="0"/>
          </a:p>
        </p:txBody>
      </p:sp>
      <p:sp>
        <p:nvSpPr>
          <p:cNvPr id="4" name="תיבת טקסט 3">
            <a:extLst>
              <a:ext uri="{FF2B5EF4-FFF2-40B4-BE49-F238E27FC236}">
                <a16:creationId xmlns:a16="http://schemas.microsoft.com/office/drawing/2014/main" id="{432B395D-588E-C226-7F92-D669B7E322B0}"/>
              </a:ext>
            </a:extLst>
          </p:cNvPr>
          <p:cNvSpPr txBox="1"/>
          <p:nvPr/>
        </p:nvSpPr>
        <p:spPr>
          <a:xfrm>
            <a:off x="7418896" y="1621411"/>
            <a:ext cx="3949830" cy="1477328"/>
          </a:xfrm>
          <a:prstGeom prst="rect">
            <a:avLst/>
          </a:prstGeom>
          <a:noFill/>
        </p:spPr>
        <p:txBody>
          <a:bodyPr wrap="square" rtlCol="1">
            <a:spAutoFit/>
          </a:bodyPr>
          <a:lstStyle/>
          <a:p>
            <a:r>
              <a:rPr lang="he-IL" dirty="0"/>
              <a:t>מפעילה את פונקציית </a:t>
            </a:r>
            <a:r>
              <a:rPr lang="en-US" dirty="0"/>
              <a:t>Quarter Round</a:t>
            </a:r>
            <a:r>
              <a:rPr lang="he-IL" dirty="0"/>
              <a:t> על כל אחד מארבעת </a:t>
            </a:r>
            <a:r>
              <a:rPr lang="he-IL" b="1" dirty="0"/>
              <a:t>השורות</a:t>
            </a:r>
            <a:r>
              <a:rPr lang="he-IL" dirty="0"/>
              <a:t> של המטריצה.</a:t>
            </a:r>
          </a:p>
          <a:p>
            <a:endParaRPr lang="he-IL" dirty="0"/>
          </a:p>
          <a:p>
            <a:r>
              <a:rPr lang="he-IL" b="1" dirty="0"/>
              <a:t>אבל,</a:t>
            </a:r>
            <a:r>
              <a:rPr lang="he-IL" dirty="0"/>
              <a:t> סדר המילים שנכנס לפונקציה בכל שורה משתנה ולא נכנס לפי הסדר הסידורי.</a:t>
            </a:r>
            <a:endParaRPr lang="he-IL" b="1" dirty="0"/>
          </a:p>
        </p:txBody>
      </p:sp>
      <p:pic>
        <p:nvPicPr>
          <p:cNvPr id="6" name="תמונה 5">
            <a:extLst>
              <a:ext uri="{FF2B5EF4-FFF2-40B4-BE49-F238E27FC236}">
                <a16:creationId xmlns:a16="http://schemas.microsoft.com/office/drawing/2014/main" id="{4EB3521A-D373-9231-DA05-19F054F997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634" y="618788"/>
            <a:ext cx="4514751" cy="4911793"/>
          </a:xfrm>
          <a:prstGeom prst="rect">
            <a:avLst/>
          </a:prstGeom>
        </p:spPr>
      </p:pic>
      <p:pic>
        <p:nvPicPr>
          <p:cNvPr id="8" name="תמונה 7">
            <a:extLst>
              <a:ext uri="{FF2B5EF4-FFF2-40B4-BE49-F238E27FC236}">
                <a16:creationId xmlns:a16="http://schemas.microsoft.com/office/drawing/2014/main" id="{0A8028A0-2F9F-7466-A4F9-D32B3DA144FD}"/>
              </a:ext>
            </a:extLst>
          </p:cNvPr>
          <p:cNvPicPr>
            <a:picLocks noChangeAspect="1"/>
          </p:cNvPicPr>
          <p:nvPr/>
        </p:nvPicPr>
        <p:blipFill>
          <a:blip r:embed="rId3"/>
          <a:stretch>
            <a:fillRect/>
          </a:stretch>
        </p:blipFill>
        <p:spPr>
          <a:xfrm>
            <a:off x="5370016" y="4944136"/>
            <a:ext cx="4761372" cy="1172890"/>
          </a:xfrm>
          <a:prstGeom prst="rect">
            <a:avLst/>
          </a:prstGeom>
        </p:spPr>
      </p:pic>
      <p:pic>
        <p:nvPicPr>
          <p:cNvPr id="10" name="תמונה 9">
            <a:extLst>
              <a:ext uri="{FF2B5EF4-FFF2-40B4-BE49-F238E27FC236}">
                <a16:creationId xmlns:a16="http://schemas.microsoft.com/office/drawing/2014/main" id="{BF811260-D4EC-0949-3AF0-A8C6C369E36C}"/>
              </a:ext>
            </a:extLst>
          </p:cNvPr>
          <p:cNvPicPr>
            <a:picLocks noChangeAspect="1"/>
          </p:cNvPicPr>
          <p:nvPr/>
        </p:nvPicPr>
        <p:blipFill>
          <a:blip r:embed="rId4"/>
          <a:stretch>
            <a:fillRect/>
          </a:stretch>
        </p:blipFill>
        <p:spPr>
          <a:xfrm>
            <a:off x="5370016" y="2952844"/>
            <a:ext cx="2429214" cy="1771897"/>
          </a:xfrm>
          <a:prstGeom prst="rect">
            <a:avLst/>
          </a:prstGeom>
        </p:spPr>
      </p:pic>
    </p:spTree>
    <p:extLst>
      <p:ext uri="{BB962C8B-B14F-4D97-AF65-F5344CB8AC3E}">
        <p14:creationId xmlns:p14="http://schemas.microsoft.com/office/powerpoint/2010/main" val="680170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C79F9-17E1-5B37-18BD-B8F47C61B440}"/>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E9A71637-7AF0-58F3-BCB5-4D8E73AFB7B0}"/>
              </a:ext>
            </a:extLst>
          </p:cNvPr>
          <p:cNvSpPr txBox="1"/>
          <p:nvPr/>
        </p:nvSpPr>
        <p:spPr>
          <a:xfrm>
            <a:off x="3874416" y="688157"/>
            <a:ext cx="7230358" cy="646331"/>
          </a:xfrm>
          <a:prstGeom prst="rect">
            <a:avLst/>
          </a:prstGeom>
          <a:noFill/>
        </p:spPr>
        <p:txBody>
          <a:bodyPr wrap="square" rtlCol="1">
            <a:spAutoFit/>
          </a:bodyPr>
          <a:lstStyle/>
          <a:p>
            <a:r>
              <a:rPr lang="he-IL" sz="3600" dirty="0"/>
              <a:t>פונקציית </a:t>
            </a:r>
            <a:r>
              <a:rPr lang="en-US" sz="3600" dirty="0"/>
              <a:t>Column Round</a:t>
            </a:r>
            <a:endParaRPr lang="he-IL" sz="3600" dirty="0"/>
          </a:p>
        </p:txBody>
      </p:sp>
      <p:sp>
        <p:nvSpPr>
          <p:cNvPr id="4" name="תיבת טקסט 3">
            <a:extLst>
              <a:ext uri="{FF2B5EF4-FFF2-40B4-BE49-F238E27FC236}">
                <a16:creationId xmlns:a16="http://schemas.microsoft.com/office/drawing/2014/main" id="{1BA5725B-304F-C206-B456-9D96D3DA7820}"/>
              </a:ext>
            </a:extLst>
          </p:cNvPr>
          <p:cNvSpPr txBox="1"/>
          <p:nvPr/>
        </p:nvSpPr>
        <p:spPr>
          <a:xfrm>
            <a:off x="7418896" y="1621411"/>
            <a:ext cx="3949830" cy="1477328"/>
          </a:xfrm>
          <a:prstGeom prst="rect">
            <a:avLst/>
          </a:prstGeom>
          <a:noFill/>
        </p:spPr>
        <p:txBody>
          <a:bodyPr wrap="square" rtlCol="1">
            <a:spAutoFit/>
          </a:bodyPr>
          <a:lstStyle/>
          <a:p>
            <a:r>
              <a:rPr lang="he-IL" dirty="0"/>
              <a:t>מפעילה את פונקציית </a:t>
            </a:r>
            <a:r>
              <a:rPr lang="en-US" dirty="0"/>
              <a:t>Quarter Round</a:t>
            </a:r>
            <a:r>
              <a:rPr lang="he-IL" dirty="0"/>
              <a:t> על כל אחד מארבעת </a:t>
            </a:r>
            <a:r>
              <a:rPr lang="he-IL" b="1" dirty="0"/>
              <a:t>העמודות</a:t>
            </a:r>
            <a:r>
              <a:rPr lang="he-IL" dirty="0"/>
              <a:t> של המטריצה.</a:t>
            </a:r>
          </a:p>
          <a:p>
            <a:endParaRPr lang="he-IL" dirty="0"/>
          </a:p>
          <a:p>
            <a:r>
              <a:rPr lang="he-IL" b="1" dirty="0"/>
              <a:t>אבל,</a:t>
            </a:r>
            <a:r>
              <a:rPr lang="he-IL" dirty="0"/>
              <a:t> סדר המילים שנכנס לפונקציה בכל עמודה משתנה ולא נכנס לפי הסדר הסידורי.</a:t>
            </a:r>
            <a:endParaRPr lang="he-IL" b="1" dirty="0"/>
          </a:p>
        </p:txBody>
      </p:sp>
      <p:pic>
        <p:nvPicPr>
          <p:cNvPr id="5" name="תמונה 4">
            <a:extLst>
              <a:ext uri="{FF2B5EF4-FFF2-40B4-BE49-F238E27FC236}">
                <a16:creationId xmlns:a16="http://schemas.microsoft.com/office/drawing/2014/main" id="{69A1B879-F34F-DA1A-9886-309A8E3C98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692" y="884619"/>
            <a:ext cx="4506842" cy="4949072"/>
          </a:xfrm>
          <a:prstGeom prst="rect">
            <a:avLst/>
          </a:prstGeom>
        </p:spPr>
      </p:pic>
      <p:pic>
        <p:nvPicPr>
          <p:cNvPr id="9" name="תמונה 8">
            <a:extLst>
              <a:ext uri="{FF2B5EF4-FFF2-40B4-BE49-F238E27FC236}">
                <a16:creationId xmlns:a16="http://schemas.microsoft.com/office/drawing/2014/main" id="{52409500-CE84-3FF2-34E2-B6F4A1495A60}"/>
              </a:ext>
            </a:extLst>
          </p:cNvPr>
          <p:cNvPicPr>
            <a:picLocks noChangeAspect="1"/>
          </p:cNvPicPr>
          <p:nvPr/>
        </p:nvPicPr>
        <p:blipFill>
          <a:blip r:embed="rId3"/>
          <a:stretch>
            <a:fillRect/>
          </a:stretch>
        </p:blipFill>
        <p:spPr>
          <a:xfrm>
            <a:off x="5346084" y="5125693"/>
            <a:ext cx="4830878" cy="1222271"/>
          </a:xfrm>
          <a:prstGeom prst="rect">
            <a:avLst/>
          </a:prstGeom>
        </p:spPr>
      </p:pic>
      <p:pic>
        <p:nvPicPr>
          <p:cNvPr id="10" name="תמונה 9">
            <a:extLst>
              <a:ext uri="{FF2B5EF4-FFF2-40B4-BE49-F238E27FC236}">
                <a16:creationId xmlns:a16="http://schemas.microsoft.com/office/drawing/2014/main" id="{A1D08206-6F05-A2E3-232F-7E1088D89ABE}"/>
              </a:ext>
            </a:extLst>
          </p:cNvPr>
          <p:cNvPicPr>
            <a:picLocks noChangeAspect="1"/>
          </p:cNvPicPr>
          <p:nvPr/>
        </p:nvPicPr>
        <p:blipFill>
          <a:blip r:embed="rId4"/>
          <a:stretch>
            <a:fillRect/>
          </a:stretch>
        </p:blipFill>
        <p:spPr>
          <a:xfrm>
            <a:off x="5332308" y="3098739"/>
            <a:ext cx="2523823" cy="1840906"/>
          </a:xfrm>
          <a:prstGeom prst="rect">
            <a:avLst/>
          </a:prstGeom>
        </p:spPr>
      </p:pic>
    </p:spTree>
    <p:extLst>
      <p:ext uri="{BB962C8B-B14F-4D97-AF65-F5344CB8AC3E}">
        <p14:creationId xmlns:p14="http://schemas.microsoft.com/office/powerpoint/2010/main" val="3910855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17EE2-FF6C-DBAD-ACF3-1B43BA4A6BA5}"/>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E50618CC-441C-0161-A6CC-C02CC9319ABE}"/>
              </a:ext>
            </a:extLst>
          </p:cNvPr>
          <p:cNvSpPr txBox="1"/>
          <p:nvPr/>
        </p:nvSpPr>
        <p:spPr>
          <a:xfrm>
            <a:off x="3874416" y="688157"/>
            <a:ext cx="7230358" cy="646331"/>
          </a:xfrm>
          <a:prstGeom prst="rect">
            <a:avLst/>
          </a:prstGeom>
          <a:noFill/>
        </p:spPr>
        <p:txBody>
          <a:bodyPr wrap="square" rtlCol="1">
            <a:spAutoFit/>
          </a:bodyPr>
          <a:lstStyle/>
          <a:p>
            <a:r>
              <a:rPr lang="he-IL" sz="3600" dirty="0"/>
              <a:t>פונקציית </a:t>
            </a:r>
            <a:r>
              <a:rPr lang="en-US" sz="3600" dirty="0"/>
              <a:t>Double Round</a:t>
            </a:r>
            <a:endParaRPr lang="he-IL" sz="3600" dirty="0"/>
          </a:p>
        </p:txBody>
      </p:sp>
      <mc:AlternateContent xmlns:mc="http://schemas.openxmlformats.org/markup-compatibility/2006" xmlns:a14="http://schemas.microsoft.com/office/drawing/2010/main">
        <mc:Choice Requires="a14">
          <p:sp>
            <p:nvSpPr>
              <p:cNvPr id="4" name="תיבת טקסט 3">
                <a:extLst>
                  <a:ext uri="{FF2B5EF4-FFF2-40B4-BE49-F238E27FC236}">
                    <a16:creationId xmlns:a16="http://schemas.microsoft.com/office/drawing/2014/main" id="{9613B7CE-E1EB-B2B6-0DF3-6CCC8E974C4E}"/>
                  </a:ext>
                </a:extLst>
              </p:cNvPr>
              <p:cNvSpPr txBox="1"/>
              <p:nvPr/>
            </p:nvSpPr>
            <p:spPr>
              <a:xfrm>
                <a:off x="4524866" y="1621411"/>
                <a:ext cx="6843860" cy="681982"/>
              </a:xfrm>
              <a:prstGeom prst="rect">
                <a:avLst/>
              </a:prstGeom>
              <a:noFill/>
            </p:spPr>
            <p:txBody>
              <a:bodyPr wrap="square" rtlCol="1">
                <a:spAutoFit/>
              </a:bodyPr>
              <a:lstStyle/>
              <a:p>
                <a:pPr/>
                <a:r>
                  <a:rPr lang="he-IL" dirty="0"/>
                  <a:t>מפעילה את פונקציות המערכת בצורה הבאה:</a:t>
                </a:r>
                <a:br>
                  <a:rPr lang="en-US" dirty="0"/>
                </a:b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𝐷𝑜𝑢𝑏𝑙𝑒𝑅𝑜𝑢𝑛𝑑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15</m:t>
                              </m:r>
                            </m:sub>
                          </m:sSub>
                        </m:e>
                      </m:d>
                      <m:r>
                        <a:rPr lang="en-US" i="1">
                          <a:latin typeface="Cambria Math" panose="02040503050406030204" pitchFamily="18" charset="0"/>
                        </a:rPr>
                        <m:t>=</m:t>
                      </m:r>
                      <m:r>
                        <a:rPr lang="en-US" i="1">
                          <a:latin typeface="Cambria Math" panose="02040503050406030204" pitchFamily="18" charset="0"/>
                        </a:rPr>
                        <m:t>𝑅𝑜𝑤𝑅𝑜𝑢𝑛𝑑</m:t>
                      </m:r>
                      <m:d>
                        <m:dPr>
                          <m:ctrlPr>
                            <a:rPr lang="en-US" i="1">
                              <a:latin typeface="Cambria Math" panose="02040503050406030204" pitchFamily="18" charset="0"/>
                            </a:rPr>
                          </m:ctrlPr>
                        </m:dPr>
                        <m:e>
                          <m:r>
                            <a:rPr lang="en-US" i="1">
                              <a:latin typeface="Cambria Math" panose="02040503050406030204" pitchFamily="18" charset="0"/>
                            </a:rPr>
                            <m:t>𝐶𝑜𝑙𝑢𝑚𝑛𝑅𝑜𝑢𝑛𝑑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15</m:t>
                                  </m:r>
                                </m:sub>
                              </m:sSub>
                            </m:e>
                          </m:d>
                        </m:e>
                      </m:d>
                    </m:oMath>
                  </m:oMathPara>
                </a14:m>
                <a:endParaRPr lang="he-IL" dirty="0"/>
              </a:p>
            </p:txBody>
          </p:sp>
        </mc:Choice>
        <mc:Fallback xmlns="">
          <p:sp>
            <p:nvSpPr>
              <p:cNvPr id="4" name="תיבת טקסט 3">
                <a:extLst>
                  <a:ext uri="{FF2B5EF4-FFF2-40B4-BE49-F238E27FC236}">
                    <a16:creationId xmlns:a16="http://schemas.microsoft.com/office/drawing/2014/main" id="{9613B7CE-E1EB-B2B6-0DF3-6CCC8E974C4E}"/>
                  </a:ext>
                </a:extLst>
              </p:cNvPr>
              <p:cNvSpPr txBox="1">
                <a:spLocks noRot="1" noChangeAspect="1" noMove="1" noResize="1" noEditPoints="1" noAdjustHandles="1" noChangeArrowheads="1" noChangeShapeType="1" noTextEdit="1"/>
              </p:cNvSpPr>
              <p:nvPr/>
            </p:nvSpPr>
            <p:spPr>
              <a:xfrm>
                <a:off x="4524866" y="1621411"/>
                <a:ext cx="6843860" cy="681982"/>
              </a:xfrm>
              <a:prstGeom prst="rect">
                <a:avLst/>
              </a:prstGeom>
              <a:blipFill>
                <a:blip r:embed="rId2"/>
                <a:stretch>
                  <a:fillRect t="-5357" r="-1158" b="-12500"/>
                </a:stretch>
              </a:blipFill>
            </p:spPr>
            <p:txBody>
              <a:bodyPr/>
              <a:lstStyle/>
              <a:p>
                <a:r>
                  <a:rPr lang="he-IL">
                    <a:noFill/>
                  </a:rPr>
                  <a:t> </a:t>
                </a:r>
              </a:p>
            </p:txBody>
          </p:sp>
        </mc:Fallback>
      </mc:AlternateContent>
      <p:pic>
        <p:nvPicPr>
          <p:cNvPr id="10" name="תמונה 9">
            <a:extLst>
              <a:ext uri="{FF2B5EF4-FFF2-40B4-BE49-F238E27FC236}">
                <a16:creationId xmlns:a16="http://schemas.microsoft.com/office/drawing/2014/main" id="{467E76A7-C67C-E861-650F-F48DB18B1610}"/>
              </a:ext>
            </a:extLst>
          </p:cNvPr>
          <p:cNvPicPr>
            <a:picLocks noChangeAspect="1"/>
          </p:cNvPicPr>
          <p:nvPr/>
        </p:nvPicPr>
        <p:blipFill>
          <a:blip r:embed="rId3"/>
          <a:stretch>
            <a:fillRect/>
          </a:stretch>
        </p:blipFill>
        <p:spPr>
          <a:xfrm>
            <a:off x="823274" y="1011322"/>
            <a:ext cx="3212888" cy="2343518"/>
          </a:xfrm>
          <a:prstGeom prst="rect">
            <a:avLst/>
          </a:prstGeom>
        </p:spPr>
      </p:pic>
      <p:pic>
        <p:nvPicPr>
          <p:cNvPr id="6" name="תמונה 5">
            <a:extLst>
              <a:ext uri="{FF2B5EF4-FFF2-40B4-BE49-F238E27FC236}">
                <a16:creationId xmlns:a16="http://schemas.microsoft.com/office/drawing/2014/main" id="{CD209D38-131E-E530-5917-C61E4F11D8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2454" y="2887854"/>
            <a:ext cx="6462320" cy="2911092"/>
          </a:xfrm>
          <a:prstGeom prst="rect">
            <a:avLst/>
          </a:prstGeom>
        </p:spPr>
      </p:pic>
    </p:spTree>
    <p:extLst>
      <p:ext uri="{BB962C8B-B14F-4D97-AF65-F5344CB8AC3E}">
        <p14:creationId xmlns:p14="http://schemas.microsoft.com/office/powerpoint/2010/main" val="1666115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3853B-06F1-97A1-8613-14ABA3B29CFF}"/>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236BCAED-2845-9E23-9126-24CD0924CF18}"/>
              </a:ext>
            </a:extLst>
          </p:cNvPr>
          <p:cNvSpPr txBox="1"/>
          <p:nvPr/>
        </p:nvSpPr>
        <p:spPr>
          <a:xfrm>
            <a:off x="3874416" y="688157"/>
            <a:ext cx="7230358" cy="646331"/>
          </a:xfrm>
          <a:prstGeom prst="rect">
            <a:avLst/>
          </a:prstGeom>
          <a:noFill/>
        </p:spPr>
        <p:txBody>
          <a:bodyPr wrap="square" rtlCol="1">
            <a:spAutoFit/>
          </a:bodyPr>
          <a:lstStyle/>
          <a:p>
            <a:r>
              <a:rPr lang="he-IL" sz="3600" dirty="0"/>
              <a:t>פונקציית הגיבוב – </a:t>
            </a:r>
            <a:r>
              <a:rPr lang="en-US" sz="3600" dirty="0"/>
              <a:t>Salsa20</a:t>
            </a:r>
            <a:endParaRPr lang="he-IL" sz="3600" dirty="0"/>
          </a:p>
        </p:txBody>
      </p:sp>
      <mc:AlternateContent xmlns:mc="http://schemas.openxmlformats.org/markup-compatibility/2006" xmlns:a14="http://schemas.microsoft.com/office/drawing/2010/main">
        <mc:Choice Requires="a14">
          <p:sp>
            <p:nvSpPr>
              <p:cNvPr id="4" name="תיבת טקסט 3">
                <a:extLst>
                  <a:ext uri="{FF2B5EF4-FFF2-40B4-BE49-F238E27FC236}">
                    <a16:creationId xmlns:a16="http://schemas.microsoft.com/office/drawing/2014/main" id="{E7F2225A-4D59-FD4D-A23D-6B7FCC18BDE7}"/>
                  </a:ext>
                </a:extLst>
              </p:cNvPr>
              <p:cNvSpPr txBox="1"/>
              <p:nvPr/>
            </p:nvSpPr>
            <p:spPr>
              <a:xfrm>
                <a:off x="4524866" y="1621411"/>
                <a:ext cx="6843860" cy="2342116"/>
              </a:xfrm>
              <a:prstGeom prst="rect">
                <a:avLst/>
              </a:prstGeom>
              <a:noFill/>
            </p:spPr>
            <p:txBody>
              <a:bodyPr wrap="square" rtlCol="1">
                <a:spAutoFit/>
              </a:bodyPr>
              <a:lstStyle/>
              <a:p>
                <a:pPr/>
                <a:r>
                  <a:rPr lang="he-IL" dirty="0"/>
                  <a:t>מפעילה את פונקציות המערכת בצורה הבאה:</a:t>
                </a:r>
                <a:br>
                  <a:rPr lang="en-US" dirty="0"/>
                </a:br>
                <a:br>
                  <a:rPr lang="en-US" dirty="0"/>
                </a:b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𝑆𝑎𝑙𝑠𝑎</m:t>
                      </m:r>
                      <m:r>
                        <a:rPr lang="en-US" i="1">
                          <a:latin typeface="Cambria Math" panose="02040503050406030204" pitchFamily="18" charset="0"/>
                        </a:rPr>
                        <m:t>20</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15</m:t>
                              </m:r>
                            </m:sub>
                          </m:sSub>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𝑌</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15</m:t>
                          </m:r>
                        </m:sub>
                      </m:sSub>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𝐷𝑜𝑢𝑏𝑙𝑒𝑅𝑜𝑢𝑛𝑑</m:t>
                          </m:r>
                        </m:e>
                        <m:sup>
                          <m:r>
                            <a:rPr lang="en-US" i="1">
                              <a:latin typeface="Cambria Math" panose="02040503050406030204" pitchFamily="18" charset="0"/>
                            </a:rPr>
                            <m:t>10</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15</m:t>
                          </m:r>
                        </m:sub>
                      </m:sSub>
                      <m:r>
                        <a:rPr lang="en-US" i="1">
                          <a:latin typeface="Cambria Math" panose="02040503050406030204" pitchFamily="18" charset="0"/>
                        </a:rPr>
                        <m:t>)</m:t>
                      </m:r>
                    </m:oMath>
                  </m:oMathPara>
                </a14:m>
                <a:endParaRPr lang="en-US" dirty="0"/>
              </a:p>
              <a:p>
                <a:endParaRPr lang="en-US" dirty="0"/>
              </a:p>
              <a:p>
                <a:r>
                  <a:rPr lang="he-IL" dirty="0"/>
                  <a:t>כלומר 10 פעמים </a:t>
                </a:r>
                <a:r>
                  <a:rPr lang="en-US" dirty="0"/>
                  <a:t>Double</a:t>
                </a:r>
                <a:r>
                  <a:rPr lang="he-IL" dirty="0"/>
                  <a:t> = 20 פעמים את פונקציית הבסיס.</a:t>
                </a:r>
              </a:p>
              <a:p>
                <a:endParaRPr lang="he-IL" dirty="0"/>
              </a:p>
              <a:p>
                <a:r>
                  <a:rPr lang="he-IL" dirty="0"/>
                  <a:t>כאשר מעוניינים בפונקציית הצפנה מהירה יותר על חשבון ביטחון אפשר להפחית במספר הסבבים. האופציות המומלצות הן 8 או 12 סבבים.</a:t>
                </a:r>
              </a:p>
            </p:txBody>
          </p:sp>
        </mc:Choice>
        <mc:Fallback xmlns="">
          <p:sp>
            <p:nvSpPr>
              <p:cNvPr id="4" name="תיבת טקסט 3">
                <a:extLst>
                  <a:ext uri="{FF2B5EF4-FFF2-40B4-BE49-F238E27FC236}">
                    <a16:creationId xmlns:a16="http://schemas.microsoft.com/office/drawing/2014/main" id="{E7F2225A-4D59-FD4D-A23D-6B7FCC18BDE7}"/>
                  </a:ext>
                </a:extLst>
              </p:cNvPr>
              <p:cNvSpPr txBox="1">
                <a:spLocks noRot="1" noChangeAspect="1" noMove="1" noResize="1" noEditPoints="1" noAdjustHandles="1" noChangeArrowheads="1" noChangeShapeType="1" noTextEdit="1"/>
              </p:cNvSpPr>
              <p:nvPr/>
            </p:nvSpPr>
            <p:spPr>
              <a:xfrm>
                <a:off x="4524866" y="1621411"/>
                <a:ext cx="6843860" cy="2342116"/>
              </a:xfrm>
              <a:prstGeom prst="rect">
                <a:avLst/>
              </a:prstGeom>
              <a:blipFill>
                <a:blip r:embed="rId2"/>
                <a:stretch>
                  <a:fillRect l="-445" t="-1563" r="-712" b="-1823"/>
                </a:stretch>
              </a:blipFill>
            </p:spPr>
            <p:txBody>
              <a:bodyPr/>
              <a:lstStyle/>
              <a:p>
                <a:r>
                  <a:rPr lang="he-IL">
                    <a:noFill/>
                  </a:rPr>
                  <a:t> </a:t>
                </a:r>
              </a:p>
            </p:txBody>
          </p:sp>
        </mc:Fallback>
      </mc:AlternateContent>
      <p:pic>
        <p:nvPicPr>
          <p:cNvPr id="10" name="תמונה 9">
            <a:extLst>
              <a:ext uri="{FF2B5EF4-FFF2-40B4-BE49-F238E27FC236}">
                <a16:creationId xmlns:a16="http://schemas.microsoft.com/office/drawing/2014/main" id="{E57137D4-347C-B555-45E9-BC543EACBF12}"/>
              </a:ext>
            </a:extLst>
          </p:cNvPr>
          <p:cNvPicPr>
            <a:picLocks noChangeAspect="1"/>
          </p:cNvPicPr>
          <p:nvPr/>
        </p:nvPicPr>
        <p:blipFill>
          <a:blip r:embed="rId3"/>
          <a:stretch>
            <a:fillRect/>
          </a:stretch>
        </p:blipFill>
        <p:spPr>
          <a:xfrm>
            <a:off x="661528" y="1520369"/>
            <a:ext cx="3212888" cy="2343518"/>
          </a:xfrm>
          <a:prstGeom prst="rect">
            <a:avLst/>
          </a:prstGeom>
        </p:spPr>
      </p:pic>
    </p:spTree>
    <p:extLst>
      <p:ext uri="{BB962C8B-B14F-4D97-AF65-F5344CB8AC3E}">
        <p14:creationId xmlns:p14="http://schemas.microsoft.com/office/powerpoint/2010/main" val="2391156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B32FD-2F8A-6342-964C-0D06FEE1306B}"/>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FC78E5CA-1E5C-5107-7A44-64D682675CBB}"/>
              </a:ext>
            </a:extLst>
          </p:cNvPr>
          <p:cNvSpPr txBox="1"/>
          <p:nvPr/>
        </p:nvSpPr>
        <p:spPr>
          <a:xfrm>
            <a:off x="7202078" y="688157"/>
            <a:ext cx="3902696" cy="646331"/>
          </a:xfrm>
          <a:prstGeom prst="rect">
            <a:avLst/>
          </a:prstGeom>
          <a:noFill/>
        </p:spPr>
        <p:txBody>
          <a:bodyPr wrap="square" rtlCol="1">
            <a:spAutoFit/>
          </a:bodyPr>
          <a:lstStyle/>
          <a:p>
            <a:r>
              <a:rPr lang="he-IL" sz="3600" dirty="0"/>
              <a:t>עקרון ה - </a:t>
            </a:r>
            <a:r>
              <a:rPr lang="en-US" sz="3600" dirty="0"/>
              <a:t>Endianess</a:t>
            </a:r>
            <a:endParaRPr lang="he-IL" sz="3600" dirty="0"/>
          </a:p>
        </p:txBody>
      </p:sp>
      <p:sp>
        <p:nvSpPr>
          <p:cNvPr id="6" name="תיבת טקסט 5">
            <a:extLst>
              <a:ext uri="{FF2B5EF4-FFF2-40B4-BE49-F238E27FC236}">
                <a16:creationId xmlns:a16="http://schemas.microsoft.com/office/drawing/2014/main" id="{D0B8605C-603C-C65F-3845-8F79D4BD2DC2}"/>
              </a:ext>
            </a:extLst>
          </p:cNvPr>
          <p:cNvSpPr txBox="1"/>
          <p:nvPr/>
        </p:nvSpPr>
        <p:spPr>
          <a:xfrm>
            <a:off x="603315" y="1467927"/>
            <a:ext cx="10501459" cy="2862322"/>
          </a:xfrm>
          <a:prstGeom prst="rect">
            <a:avLst/>
          </a:prstGeom>
          <a:noFill/>
        </p:spPr>
        <p:txBody>
          <a:bodyPr wrap="square">
            <a:spAutoFit/>
          </a:bodyPr>
          <a:lstStyle/>
          <a:p>
            <a:r>
              <a:rPr lang="he-IL" sz="1800" dirty="0">
                <a:effectLst/>
                <a:ea typeface="Calibri" panose="020F0502020204030204" pitchFamily="34" charset="0"/>
                <a:cs typeface="David" panose="020E0502060401010101" pitchFamily="34" charset="-79"/>
              </a:rPr>
              <a:t>פרמטר המגדיר את האופן שבו מערכת מחשב או רכיב חומרה מסדרת בתים בתוך מילים – </a:t>
            </a:r>
            <a:r>
              <a:rPr lang="en-US" sz="1800" dirty="0">
                <a:effectLst/>
                <a:ea typeface="Calibri" panose="020F0502020204030204" pitchFamily="34" charset="0"/>
                <a:cs typeface="David" panose="020E0502060401010101" pitchFamily="34" charset="-79"/>
              </a:rPr>
              <a:t>Byte Order</a:t>
            </a:r>
            <a:br>
              <a:rPr lang="en-US" sz="1800" dirty="0">
                <a:effectLst/>
                <a:ea typeface="Calibri" panose="020F0502020204030204" pitchFamily="34" charset="0"/>
                <a:cs typeface="David" panose="020E0502060401010101" pitchFamily="34" charset="-79"/>
              </a:rPr>
            </a:br>
            <a:endParaRPr lang="he-IL" sz="1800" dirty="0">
              <a:effectLst/>
              <a:ea typeface="Calibri" panose="020F0502020204030204" pitchFamily="34" charset="0"/>
              <a:cs typeface="David" panose="020E0502060401010101" pitchFamily="34" charset="-79"/>
            </a:endParaRPr>
          </a:p>
          <a:p>
            <a:pPr marL="742950" lvl="1" indent="-285750">
              <a:buFont typeface="Arial" panose="020B0604020202020204" pitchFamily="34" charset="0"/>
              <a:buChar char="•"/>
            </a:pPr>
            <a:r>
              <a:rPr lang="en-US" dirty="0"/>
              <a:t>Little-Endian</a:t>
            </a:r>
            <a:r>
              <a:rPr lang="he-IL" dirty="0"/>
              <a:t> - "הבית הקטן" (</a:t>
            </a:r>
            <a:r>
              <a:rPr lang="en-US" dirty="0"/>
              <a:t>least significant byte</a:t>
            </a:r>
            <a:r>
              <a:rPr lang="he-IL" dirty="0"/>
              <a:t>) נשמר ראשון בזיכרון.</a:t>
            </a:r>
          </a:p>
          <a:p>
            <a:pPr marL="742950" lvl="1" indent="-285750">
              <a:buFont typeface="Arial" panose="020B0604020202020204" pitchFamily="34" charset="0"/>
              <a:buChar char="•"/>
            </a:pPr>
            <a:r>
              <a:rPr lang="en-US" dirty="0"/>
              <a:t>Big-Endian</a:t>
            </a:r>
            <a:r>
              <a:rPr lang="he-IL" dirty="0"/>
              <a:t> – "הבית הגדול" (</a:t>
            </a:r>
            <a:r>
              <a:rPr lang="en-US" dirty="0"/>
              <a:t>most significant byte</a:t>
            </a:r>
            <a:r>
              <a:rPr lang="he-IL" dirty="0"/>
              <a:t>) נשמר ראשון בזיכרון.</a:t>
            </a:r>
            <a:br>
              <a:rPr lang="en-US" dirty="0"/>
            </a:br>
            <a:endParaRPr lang="he-IL" dirty="0"/>
          </a:p>
          <a:p>
            <a:r>
              <a:rPr lang="he-IL" b="1" dirty="0"/>
              <a:t>הפרויקט תואם את עקרון ה-</a:t>
            </a:r>
            <a:r>
              <a:rPr lang="en-US" b="1" dirty="0"/>
              <a:t>Little-Endian</a:t>
            </a:r>
            <a:r>
              <a:rPr lang="he-IL" b="1" dirty="0"/>
              <a:t>:</a:t>
            </a:r>
          </a:p>
          <a:p>
            <a:pPr marL="285750" indent="-285750">
              <a:buFontTx/>
              <a:buChar char="-"/>
            </a:pPr>
            <a:r>
              <a:rPr lang="he-IL" dirty="0"/>
              <a:t>דרישת האלגוריתם.</a:t>
            </a:r>
          </a:p>
          <a:p>
            <a:pPr marL="285750" indent="-285750">
              <a:buFontTx/>
              <a:buChar char="-"/>
            </a:pPr>
            <a:r>
              <a:rPr lang="he-IL" dirty="0"/>
              <a:t>בעת התקשורת בין הרכיב למחשב-  </a:t>
            </a:r>
            <a:br>
              <a:rPr lang="en-US" dirty="0"/>
            </a:br>
            <a:r>
              <a:rPr lang="he-IL" dirty="0"/>
              <a:t>מתבצעות כתיבות וקריאות</a:t>
            </a:r>
            <a:br>
              <a:rPr lang="en-US" dirty="0"/>
            </a:br>
            <a:r>
              <a:rPr lang="he-IL" dirty="0"/>
              <a:t>מהרגיסטרים לפי עקרון זה.</a:t>
            </a:r>
          </a:p>
        </p:txBody>
      </p:sp>
      <p:pic>
        <p:nvPicPr>
          <p:cNvPr id="7" name="תמונה 6">
            <a:extLst>
              <a:ext uri="{FF2B5EF4-FFF2-40B4-BE49-F238E27FC236}">
                <a16:creationId xmlns:a16="http://schemas.microsoft.com/office/drawing/2014/main" id="{B06986F9-120E-6D58-195F-7E09AA672A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718" y="3015429"/>
            <a:ext cx="5963530" cy="3347663"/>
          </a:xfrm>
          <a:prstGeom prst="rect">
            <a:avLst/>
          </a:prstGeom>
          <a:ln>
            <a:solidFill>
              <a:schemeClr val="tx1"/>
            </a:solidFill>
          </a:ln>
        </p:spPr>
      </p:pic>
    </p:spTree>
    <p:extLst>
      <p:ext uri="{BB962C8B-B14F-4D97-AF65-F5344CB8AC3E}">
        <p14:creationId xmlns:p14="http://schemas.microsoft.com/office/powerpoint/2010/main" val="2533645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1D2C7-08D9-F073-E541-37AEF6BB84E2}"/>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1362E651-3BCB-A117-FFC3-D4B3CD85B4A8}"/>
              </a:ext>
            </a:extLst>
          </p:cNvPr>
          <p:cNvSpPr txBox="1"/>
          <p:nvPr/>
        </p:nvSpPr>
        <p:spPr>
          <a:xfrm>
            <a:off x="5844619" y="688157"/>
            <a:ext cx="5260155" cy="646331"/>
          </a:xfrm>
          <a:prstGeom prst="rect">
            <a:avLst/>
          </a:prstGeom>
          <a:noFill/>
        </p:spPr>
        <p:txBody>
          <a:bodyPr wrap="square" rtlCol="1">
            <a:spAutoFit/>
          </a:bodyPr>
          <a:lstStyle/>
          <a:p>
            <a:r>
              <a:rPr lang="he-IL" sz="3600" dirty="0"/>
              <a:t>לוגיקה קומבינטורית וסדרתית</a:t>
            </a:r>
          </a:p>
        </p:txBody>
      </p:sp>
      <p:sp>
        <p:nvSpPr>
          <p:cNvPr id="4" name="תיבת טקסט 3">
            <a:extLst>
              <a:ext uri="{FF2B5EF4-FFF2-40B4-BE49-F238E27FC236}">
                <a16:creationId xmlns:a16="http://schemas.microsoft.com/office/drawing/2014/main" id="{83428FE9-A547-7707-9F3D-ABF694B7EE87}"/>
              </a:ext>
            </a:extLst>
          </p:cNvPr>
          <p:cNvSpPr txBox="1"/>
          <p:nvPr/>
        </p:nvSpPr>
        <p:spPr>
          <a:xfrm>
            <a:off x="7088957" y="1404123"/>
            <a:ext cx="4015817" cy="3416320"/>
          </a:xfrm>
          <a:prstGeom prst="rect">
            <a:avLst/>
          </a:prstGeom>
          <a:noFill/>
        </p:spPr>
        <p:txBody>
          <a:bodyPr wrap="square">
            <a:spAutoFit/>
          </a:bodyPr>
          <a:lstStyle/>
          <a:p>
            <a:pPr marL="285750" indent="-285750">
              <a:buFont typeface="Arial" panose="020B0604020202020204" pitchFamily="34" charset="0"/>
              <a:buChar char="•"/>
            </a:pPr>
            <a:r>
              <a:rPr lang="he-IL" b="1" dirty="0">
                <a:effectLst/>
                <a:ea typeface="Calibri" panose="020F0502020204030204" pitchFamily="34" charset="0"/>
                <a:cs typeface="David" panose="020E0502060401010101" pitchFamily="34" charset="-79"/>
              </a:rPr>
              <a:t>לוגיקה קומבינטורית</a:t>
            </a:r>
            <a:endParaRPr lang="he-IL" b="1" dirty="0">
              <a:ea typeface="Calibri" panose="020F0502020204030204" pitchFamily="34" charset="0"/>
              <a:cs typeface="David" panose="020E0502060401010101" pitchFamily="34" charset="-79"/>
            </a:endParaRPr>
          </a:p>
          <a:p>
            <a:r>
              <a:rPr lang="he-IL" b="1" dirty="0">
                <a:ea typeface="Calibri" panose="020F0502020204030204" pitchFamily="34" charset="0"/>
                <a:cs typeface="David" panose="020E0502060401010101" pitchFamily="34" charset="-79"/>
              </a:rPr>
              <a:t>	</a:t>
            </a:r>
            <a:r>
              <a:rPr lang="he-IL" dirty="0">
                <a:ea typeface="Calibri" panose="020F0502020204030204" pitchFamily="34" charset="0"/>
                <a:cs typeface="David" panose="020E0502060401010101" pitchFamily="34" charset="-79"/>
              </a:rPr>
              <a:t>הפלט משתנה בצורה מיידית 	בכל שינוי של הקלט. </a:t>
            </a:r>
            <a:r>
              <a:rPr lang="he-IL" dirty="0">
                <a:effectLst/>
                <a:ea typeface="Calibri" panose="020F0502020204030204" pitchFamily="34" charset="0"/>
                <a:cs typeface="David" panose="020E0502060401010101" pitchFamily="34" charset="-79"/>
              </a:rPr>
              <a:t>ללא כל 	תלות בזמן או במצב קודם.</a:t>
            </a:r>
            <a:br>
              <a:rPr lang="en-US" dirty="0">
                <a:effectLst/>
                <a:ea typeface="Calibri" panose="020F0502020204030204" pitchFamily="34" charset="0"/>
                <a:cs typeface="David" panose="020E0502060401010101" pitchFamily="34" charset="-79"/>
              </a:rPr>
            </a:br>
            <a:endParaRPr lang="he-IL" dirty="0">
              <a:ea typeface="Calibri" panose="020F0502020204030204" pitchFamily="34" charset="0"/>
              <a:cs typeface="David" panose="020E0502060401010101" pitchFamily="34" charset="-79"/>
            </a:endParaRPr>
          </a:p>
          <a:p>
            <a:pPr marL="285750" indent="-285750">
              <a:buFont typeface="Arial" panose="020B0604020202020204" pitchFamily="34" charset="0"/>
              <a:buChar char="•"/>
            </a:pPr>
            <a:r>
              <a:rPr lang="he-IL" b="1" dirty="0">
                <a:effectLst/>
                <a:ea typeface="Calibri" panose="020F0502020204030204" pitchFamily="34" charset="0"/>
                <a:cs typeface="David" panose="020E0502060401010101" pitchFamily="34" charset="-79"/>
              </a:rPr>
              <a:t>לוגיקה סדרתית </a:t>
            </a:r>
          </a:p>
          <a:p>
            <a:r>
              <a:rPr lang="he-IL" b="1" dirty="0">
                <a:ea typeface="Calibri" panose="020F0502020204030204" pitchFamily="34" charset="0"/>
                <a:cs typeface="David" panose="020E0502060401010101" pitchFamily="34" charset="-79"/>
              </a:rPr>
              <a:t>	</a:t>
            </a:r>
            <a:r>
              <a:rPr lang="he-IL" dirty="0">
                <a:effectLst/>
                <a:ea typeface="Calibri" panose="020F0502020204030204" pitchFamily="34" charset="0"/>
                <a:cs typeface="David" panose="020E0502060401010101" pitchFamily="34" charset="-79"/>
              </a:rPr>
              <a:t>כוללת רכיבי זיכרון ומבוססת 	על סנכרון עם שעון.</a:t>
            </a:r>
            <a:br>
              <a:rPr lang="en-US" dirty="0">
                <a:effectLst/>
                <a:ea typeface="Calibri" panose="020F0502020204030204" pitchFamily="34" charset="0"/>
                <a:cs typeface="David" panose="020E0502060401010101" pitchFamily="34" charset="-79"/>
              </a:rPr>
            </a:br>
            <a:r>
              <a:rPr lang="he-IL" dirty="0">
                <a:effectLst/>
                <a:ea typeface="Calibri" panose="020F0502020204030204" pitchFamily="34" charset="0"/>
                <a:cs typeface="David" panose="020E0502060401010101" pitchFamily="34" charset="-79"/>
              </a:rPr>
              <a:t>	שומרת על מצב פנימי ומאפשרת 	בניית מערכות מורכבות, 	כמו מכונות מצבים, רגיסטרים 	וספריות זיכרון.</a:t>
            </a:r>
            <a:endParaRPr lang="he-IL" dirty="0"/>
          </a:p>
        </p:txBody>
      </p:sp>
      <p:pic>
        <p:nvPicPr>
          <p:cNvPr id="6" name="תמונה 5">
            <a:extLst>
              <a:ext uri="{FF2B5EF4-FFF2-40B4-BE49-F238E27FC236}">
                <a16:creationId xmlns:a16="http://schemas.microsoft.com/office/drawing/2014/main" id="{8A8B3DBC-E5BF-6E81-45A3-F37D2BBC9D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439" y="1715554"/>
            <a:ext cx="6754518" cy="2793458"/>
          </a:xfrm>
          <a:prstGeom prst="rect">
            <a:avLst/>
          </a:prstGeom>
        </p:spPr>
      </p:pic>
    </p:spTree>
    <p:extLst>
      <p:ext uri="{BB962C8B-B14F-4D97-AF65-F5344CB8AC3E}">
        <p14:creationId xmlns:p14="http://schemas.microsoft.com/office/powerpoint/2010/main" val="1228316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9A61E-B282-5709-8C57-F42F6A182272}"/>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07957F1A-67FB-23DF-E56F-C0E45ADFBA63}"/>
              </a:ext>
            </a:extLst>
          </p:cNvPr>
          <p:cNvSpPr txBox="1"/>
          <p:nvPr/>
        </p:nvSpPr>
        <p:spPr>
          <a:xfrm>
            <a:off x="6372521" y="688157"/>
            <a:ext cx="4732254" cy="646331"/>
          </a:xfrm>
          <a:prstGeom prst="rect">
            <a:avLst/>
          </a:prstGeom>
          <a:noFill/>
        </p:spPr>
        <p:txBody>
          <a:bodyPr wrap="square" rtlCol="1">
            <a:spAutoFit/>
          </a:bodyPr>
          <a:lstStyle/>
          <a:p>
            <a:r>
              <a:rPr lang="en-US" sz="3600" dirty="0"/>
              <a:t>Pulse VS Sticky Signal</a:t>
            </a:r>
            <a:endParaRPr lang="he-IL" sz="3600" dirty="0"/>
          </a:p>
        </p:txBody>
      </p:sp>
      <p:pic>
        <p:nvPicPr>
          <p:cNvPr id="3" name="תמונה 2" descr="‪WaveDrom Editor - Google Chrome‬">
            <a:extLst>
              <a:ext uri="{FF2B5EF4-FFF2-40B4-BE49-F238E27FC236}">
                <a16:creationId xmlns:a16="http://schemas.microsoft.com/office/drawing/2014/main" id="{AA20E734-DDE3-4D62-D2F4-2AAD842C1F55}"/>
              </a:ext>
            </a:extLst>
          </p:cNvPr>
          <p:cNvPicPr>
            <a:picLocks noChangeAspect="1"/>
          </p:cNvPicPr>
          <p:nvPr/>
        </p:nvPicPr>
        <p:blipFill rotWithShape="1">
          <a:blip r:embed="rId2">
            <a:extLst>
              <a:ext uri="{28A0092B-C50C-407E-A947-70E740481C1C}">
                <a14:useLocalDpi xmlns:a14="http://schemas.microsoft.com/office/drawing/2010/main" val="0"/>
              </a:ext>
            </a:extLst>
          </a:blip>
          <a:srcRect t="59383" r="52715" b="15200"/>
          <a:stretch>
            <a:fillRect/>
          </a:stretch>
        </p:blipFill>
        <p:spPr bwMode="auto">
          <a:xfrm>
            <a:off x="1122122" y="1683499"/>
            <a:ext cx="9947755" cy="2872760"/>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34976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459B7-4687-95D5-CCCA-1656357859C5}"/>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06E2DADC-B995-E768-B892-D005ECC79D9D}"/>
              </a:ext>
            </a:extLst>
          </p:cNvPr>
          <p:cNvSpPr txBox="1"/>
          <p:nvPr/>
        </p:nvSpPr>
        <p:spPr>
          <a:xfrm>
            <a:off x="7588577" y="688157"/>
            <a:ext cx="3516197" cy="646331"/>
          </a:xfrm>
          <a:prstGeom prst="rect">
            <a:avLst/>
          </a:prstGeom>
          <a:noFill/>
        </p:spPr>
        <p:txBody>
          <a:bodyPr wrap="square" rtlCol="1">
            <a:spAutoFit/>
          </a:bodyPr>
          <a:lstStyle/>
          <a:p>
            <a:r>
              <a:rPr lang="he-IL" sz="3600" dirty="0"/>
              <a:t>יחידת הרגיסטרים</a:t>
            </a:r>
          </a:p>
        </p:txBody>
      </p:sp>
      <p:sp>
        <p:nvSpPr>
          <p:cNvPr id="4" name="תיבת טקסט 3">
            <a:extLst>
              <a:ext uri="{FF2B5EF4-FFF2-40B4-BE49-F238E27FC236}">
                <a16:creationId xmlns:a16="http://schemas.microsoft.com/office/drawing/2014/main" id="{E006D575-94FA-7322-E6BF-CBA134CB34EC}"/>
              </a:ext>
            </a:extLst>
          </p:cNvPr>
          <p:cNvSpPr txBox="1"/>
          <p:nvPr/>
        </p:nvSpPr>
        <p:spPr>
          <a:xfrm>
            <a:off x="5010346" y="1334488"/>
            <a:ext cx="6094428" cy="1200329"/>
          </a:xfrm>
          <a:prstGeom prst="rect">
            <a:avLst/>
          </a:prstGeom>
          <a:noFill/>
        </p:spPr>
        <p:txBody>
          <a:bodyPr wrap="square">
            <a:spAutoFit/>
          </a:bodyPr>
          <a:lstStyle/>
          <a:p>
            <a:r>
              <a:rPr lang="he-IL" sz="1800" dirty="0">
                <a:effectLst/>
                <a:ea typeface="Calibri" panose="020F0502020204030204" pitchFamily="34" charset="0"/>
                <a:cs typeface="David" panose="020E0502060401010101" pitchFamily="34" charset="-79"/>
              </a:rPr>
              <a:t>מבנה זיכרון קטן ומהיר הממוקם בתוך רכיבי החומרה. רגיסטרים משמשים לאחסון נתונים בזמן ביצוע פעולות, והגישה אליהם מהירה יותר בהשוואה לזיכרון ראשי או סוגי זיכרונות אחרים, מה שמעניק יתרון משמעותי בתהליכי עיבוד נתונים.</a:t>
            </a:r>
            <a:endParaRPr lang="he-IL" dirty="0"/>
          </a:p>
        </p:txBody>
      </p:sp>
      <p:graphicFrame>
        <p:nvGraphicFramePr>
          <p:cNvPr id="18" name="טבלה 17">
            <a:extLst>
              <a:ext uri="{FF2B5EF4-FFF2-40B4-BE49-F238E27FC236}">
                <a16:creationId xmlns:a16="http://schemas.microsoft.com/office/drawing/2014/main" id="{A7F53C69-E522-9B59-18E8-33CB4C37F987}"/>
              </a:ext>
            </a:extLst>
          </p:cNvPr>
          <p:cNvGraphicFramePr>
            <a:graphicFrameLocks noGrp="1"/>
          </p:cNvGraphicFramePr>
          <p:nvPr>
            <p:extLst>
              <p:ext uri="{D42A27DB-BD31-4B8C-83A1-F6EECF244321}">
                <p14:modId xmlns:p14="http://schemas.microsoft.com/office/powerpoint/2010/main" val="3984434217"/>
              </p:ext>
            </p:extLst>
          </p:nvPr>
        </p:nvGraphicFramePr>
        <p:xfrm>
          <a:off x="2032000" y="3048086"/>
          <a:ext cx="8127999" cy="2026920"/>
        </p:xfrm>
        <a:graphic>
          <a:graphicData uri="http://schemas.openxmlformats.org/drawingml/2006/table">
            <a:tbl>
              <a:tblPr rtl="1" firstRow="1" bandRow="1">
                <a:tableStyleId>{5C22544A-7EE6-4342-B048-85BDC9FD1C3A}</a:tableStyleId>
              </a:tblPr>
              <a:tblGrid>
                <a:gridCol w="2709333">
                  <a:extLst>
                    <a:ext uri="{9D8B030D-6E8A-4147-A177-3AD203B41FA5}">
                      <a16:colId xmlns:a16="http://schemas.microsoft.com/office/drawing/2014/main" val="1063159377"/>
                    </a:ext>
                  </a:extLst>
                </a:gridCol>
                <a:gridCol w="2709333">
                  <a:extLst>
                    <a:ext uri="{9D8B030D-6E8A-4147-A177-3AD203B41FA5}">
                      <a16:colId xmlns:a16="http://schemas.microsoft.com/office/drawing/2014/main" val="3225840852"/>
                    </a:ext>
                  </a:extLst>
                </a:gridCol>
                <a:gridCol w="2709333">
                  <a:extLst>
                    <a:ext uri="{9D8B030D-6E8A-4147-A177-3AD203B41FA5}">
                      <a16:colId xmlns:a16="http://schemas.microsoft.com/office/drawing/2014/main" val="448887111"/>
                    </a:ext>
                  </a:extLst>
                </a:gridCol>
              </a:tblGrid>
              <a:tr h="370840">
                <a:tc>
                  <a:txBody>
                    <a:bodyPr/>
                    <a:lstStyle/>
                    <a:p>
                      <a:pPr rtl="1"/>
                      <a:r>
                        <a:rPr lang="he-IL" dirty="0"/>
                        <a:t>סוג רגיסטר</a:t>
                      </a:r>
                    </a:p>
                  </a:txBody>
                  <a:tcPr/>
                </a:tc>
                <a:tc>
                  <a:txBody>
                    <a:bodyPr/>
                    <a:lstStyle/>
                    <a:p>
                      <a:pPr rtl="1"/>
                      <a:r>
                        <a:rPr lang="he-IL" dirty="0"/>
                        <a:t>גישת </a:t>
                      </a:r>
                      <a:r>
                        <a:rPr lang="en-US" dirty="0"/>
                        <a:t>FW</a:t>
                      </a:r>
                      <a:endParaRPr lang="he-IL" dirty="0"/>
                    </a:p>
                  </a:txBody>
                  <a:tcPr/>
                </a:tc>
                <a:tc>
                  <a:txBody>
                    <a:bodyPr/>
                    <a:lstStyle/>
                    <a:p>
                      <a:pPr rtl="1"/>
                      <a:r>
                        <a:rPr lang="he-IL" dirty="0"/>
                        <a:t>גישת </a:t>
                      </a:r>
                      <a:r>
                        <a:rPr lang="en-US" dirty="0"/>
                        <a:t>HW</a:t>
                      </a:r>
                      <a:endParaRPr lang="he-IL" dirty="0"/>
                    </a:p>
                  </a:txBody>
                  <a:tcPr/>
                </a:tc>
                <a:extLst>
                  <a:ext uri="{0D108BD9-81ED-4DB2-BD59-A6C34878D82A}">
                    <a16:rowId xmlns:a16="http://schemas.microsoft.com/office/drawing/2014/main" val="3579193932"/>
                  </a:ext>
                </a:extLst>
              </a:tr>
              <a:tr h="370840">
                <a:tc>
                  <a:txBody>
                    <a:bodyPr/>
                    <a:lstStyle/>
                    <a:p>
                      <a:pPr rtl="1"/>
                      <a:r>
                        <a:rPr lang="en-US" dirty="0"/>
                        <a:t>RW</a:t>
                      </a:r>
                      <a:endParaRPr lang="he-IL" dirty="0"/>
                    </a:p>
                  </a:txBody>
                  <a:tcPr/>
                </a:tc>
                <a:tc>
                  <a:txBody>
                    <a:bodyPr/>
                    <a:lstStyle/>
                    <a:p>
                      <a:pPr rtl="1"/>
                      <a:r>
                        <a:rPr lang="he-IL" dirty="0"/>
                        <a:t>קריאה וכתיבה</a:t>
                      </a:r>
                    </a:p>
                  </a:txBody>
                  <a:tcPr/>
                </a:tc>
                <a:tc>
                  <a:txBody>
                    <a:bodyPr/>
                    <a:lstStyle/>
                    <a:p>
                      <a:pPr rtl="1"/>
                      <a:r>
                        <a:rPr lang="he-IL" dirty="0"/>
                        <a:t>-----------</a:t>
                      </a:r>
                    </a:p>
                  </a:txBody>
                  <a:tcPr/>
                </a:tc>
                <a:extLst>
                  <a:ext uri="{0D108BD9-81ED-4DB2-BD59-A6C34878D82A}">
                    <a16:rowId xmlns:a16="http://schemas.microsoft.com/office/drawing/2014/main" val="2796173296"/>
                  </a:ext>
                </a:extLst>
              </a:tr>
              <a:tr h="370840">
                <a:tc>
                  <a:txBody>
                    <a:bodyPr/>
                    <a:lstStyle/>
                    <a:p>
                      <a:pPr rtl="1"/>
                      <a:r>
                        <a:rPr lang="en-US" dirty="0"/>
                        <a:t>RO/V</a:t>
                      </a:r>
                      <a:endParaRPr lang="he-IL" dirty="0"/>
                    </a:p>
                  </a:txBody>
                  <a:tcPr/>
                </a:tc>
                <a:tc>
                  <a:txBody>
                    <a:bodyPr/>
                    <a:lstStyle/>
                    <a:p>
                      <a:pPr rtl="1"/>
                      <a:r>
                        <a:rPr lang="he-IL" dirty="0"/>
                        <a:t>קריאה</a:t>
                      </a:r>
                    </a:p>
                  </a:txBody>
                  <a:tcPr/>
                </a:tc>
                <a:tc>
                  <a:txBody>
                    <a:bodyPr/>
                    <a:lstStyle/>
                    <a:p>
                      <a:pPr rtl="1"/>
                      <a:r>
                        <a:rPr lang="he-IL" dirty="0"/>
                        <a:t>כתיבה</a:t>
                      </a:r>
                    </a:p>
                  </a:txBody>
                  <a:tcPr/>
                </a:tc>
                <a:extLst>
                  <a:ext uri="{0D108BD9-81ED-4DB2-BD59-A6C34878D82A}">
                    <a16:rowId xmlns:a16="http://schemas.microsoft.com/office/drawing/2014/main" val="1267601084"/>
                  </a:ext>
                </a:extLst>
              </a:tr>
              <a:tr h="370840">
                <a:tc>
                  <a:txBody>
                    <a:bodyPr/>
                    <a:lstStyle/>
                    <a:p>
                      <a:pPr rtl="1"/>
                      <a:r>
                        <a:rPr lang="en-US" dirty="0"/>
                        <a:t>RW/1C/V</a:t>
                      </a:r>
                      <a:endParaRPr lang="he-IL" dirty="0"/>
                    </a:p>
                  </a:txBody>
                  <a:tcPr/>
                </a:tc>
                <a:tc>
                  <a:txBody>
                    <a:bodyPr/>
                    <a:lstStyle/>
                    <a:p>
                      <a:pPr rtl="1"/>
                      <a:r>
                        <a:rPr lang="he-IL" dirty="0"/>
                        <a:t>קריאה וכתיבה. כתיבה ל-1 תאפס את הערך באותו מיקום.(</a:t>
                      </a:r>
                      <a:r>
                        <a:rPr lang="en-US" dirty="0"/>
                        <a:t>Sticky</a:t>
                      </a:r>
                      <a:r>
                        <a:rPr lang="he-IL" dirty="0"/>
                        <a:t>)</a:t>
                      </a:r>
                    </a:p>
                  </a:txBody>
                  <a:tcPr/>
                </a:tc>
                <a:tc>
                  <a:txBody>
                    <a:bodyPr/>
                    <a:lstStyle/>
                    <a:p>
                      <a:pPr rtl="1"/>
                      <a:r>
                        <a:rPr lang="he-IL" dirty="0"/>
                        <a:t>כתיבה</a:t>
                      </a:r>
                    </a:p>
                  </a:txBody>
                  <a:tcPr/>
                </a:tc>
                <a:extLst>
                  <a:ext uri="{0D108BD9-81ED-4DB2-BD59-A6C34878D82A}">
                    <a16:rowId xmlns:a16="http://schemas.microsoft.com/office/drawing/2014/main" val="1548326559"/>
                  </a:ext>
                </a:extLst>
              </a:tr>
            </a:tbl>
          </a:graphicData>
        </a:graphic>
      </p:graphicFrame>
    </p:spTree>
    <p:extLst>
      <p:ext uri="{BB962C8B-B14F-4D97-AF65-F5344CB8AC3E}">
        <p14:creationId xmlns:p14="http://schemas.microsoft.com/office/powerpoint/2010/main" val="517893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99583-02F6-D203-1DE3-68F1257D38FC}"/>
            </a:ext>
          </a:extLst>
        </p:cNvPr>
        <p:cNvGrpSpPr/>
        <p:nvPr/>
      </p:nvGrpSpPr>
      <p:grpSpPr>
        <a:xfrm>
          <a:off x="0" y="0"/>
          <a:ext cx="0" cy="0"/>
          <a:chOff x="0" y="0"/>
          <a:chExt cx="0" cy="0"/>
        </a:xfrm>
      </p:grpSpPr>
      <p:pic>
        <p:nvPicPr>
          <p:cNvPr id="3" name="תמונה 2" descr="‪salsa block diagram.drawio - draw.io‬">
            <a:extLst>
              <a:ext uri="{FF2B5EF4-FFF2-40B4-BE49-F238E27FC236}">
                <a16:creationId xmlns:a16="http://schemas.microsoft.com/office/drawing/2014/main" id="{1203A4B4-5B4C-149E-8C57-4428F2E5D875}"/>
              </a:ext>
            </a:extLst>
          </p:cNvPr>
          <p:cNvPicPr>
            <a:picLocks noChangeAspect="1"/>
          </p:cNvPicPr>
          <p:nvPr/>
        </p:nvPicPr>
        <p:blipFill rotWithShape="1">
          <a:blip r:embed="rId2">
            <a:extLst>
              <a:ext uri="{28A0092B-C50C-407E-A947-70E740481C1C}">
                <a14:useLocalDpi xmlns:a14="http://schemas.microsoft.com/office/drawing/2010/main" val="0"/>
              </a:ext>
            </a:extLst>
          </a:blip>
          <a:srcRect l="16774" t="27441" r="20021" b="29375"/>
          <a:stretch>
            <a:fillRect/>
          </a:stretch>
        </p:blipFill>
        <p:spPr bwMode="auto">
          <a:xfrm>
            <a:off x="749876" y="1465882"/>
            <a:ext cx="10692247" cy="3926236"/>
          </a:xfrm>
          <a:prstGeom prst="rect">
            <a:avLst/>
          </a:prstGeom>
          <a:ln>
            <a:solidFill>
              <a:schemeClr val="tx1"/>
            </a:solidFill>
          </a:ln>
          <a:extLst>
            <a:ext uri="{53640926-AAD7-44D8-BBD7-CCE9431645EC}">
              <a14:shadowObscured xmlns:a14="http://schemas.microsoft.com/office/drawing/2010/main"/>
            </a:ext>
          </a:extLst>
        </p:spPr>
      </p:pic>
      <p:sp>
        <p:nvSpPr>
          <p:cNvPr id="4" name="תיבת טקסט 3">
            <a:extLst>
              <a:ext uri="{FF2B5EF4-FFF2-40B4-BE49-F238E27FC236}">
                <a16:creationId xmlns:a16="http://schemas.microsoft.com/office/drawing/2014/main" id="{1170C26D-1E83-051A-2009-792B9C2F0F88}"/>
              </a:ext>
            </a:extLst>
          </p:cNvPr>
          <p:cNvSpPr txBox="1"/>
          <p:nvPr/>
        </p:nvSpPr>
        <p:spPr>
          <a:xfrm>
            <a:off x="7925926" y="590880"/>
            <a:ext cx="3516197" cy="646331"/>
          </a:xfrm>
          <a:prstGeom prst="rect">
            <a:avLst/>
          </a:prstGeom>
          <a:noFill/>
        </p:spPr>
        <p:txBody>
          <a:bodyPr wrap="square" rtlCol="1">
            <a:spAutoFit/>
          </a:bodyPr>
          <a:lstStyle/>
          <a:p>
            <a:r>
              <a:rPr lang="he-IL" sz="3600" dirty="0"/>
              <a:t>יחידת הרגיסטרים</a:t>
            </a:r>
          </a:p>
        </p:txBody>
      </p:sp>
    </p:spTree>
    <p:extLst>
      <p:ext uri="{BB962C8B-B14F-4D97-AF65-F5344CB8AC3E}">
        <p14:creationId xmlns:p14="http://schemas.microsoft.com/office/powerpoint/2010/main" val="3379694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D03EC-12CE-0953-F607-A40F93217CD4}"/>
            </a:ext>
          </a:extLst>
        </p:cNvPr>
        <p:cNvGrpSpPr/>
        <p:nvPr/>
      </p:nvGrpSpPr>
      <p:grpSpPr>
        <a:xfrm>
          <a:off x="0" y="0"/>
          <a:ext cx="0" cy="0"/>
          <a:chOff x="0" y="0"/>
          <a:chExt cx="0" cy="0"/>
        </a:xfrm>
      </p:grpSpPr>
      <p:sp>
        <p:nvSpPr>
          <p:cNvPr id="4" name="תיבת טקסט 3">
            <a:extLst>
              <a:ext uri="{FF2B5EF4-FFF2-40B4-BE49-F238E27FC236}">
                <a16:creationId xmlns:a16="http://schemas.microsoft.com/office/drawing/2014/main" id="{398BC11D-BBD3-86E7-AF25-D779E7516E6C}"/>
              </a:ext>
            </a:extLst>
          </p:cNvPr>
          <p:cNvSpPr txBox="1"/>
          <p:nvPr/>
        </p:nvSpPr>
        <p:spPr>
          <a:xfrm>
            <a:off x="425900" y="347689"/>
            <a:ext cx="3516197" cy="646331"/>
          </a:xfrm>
          <a:prstGeom prst="rect">
            <a:avLst/>
          </a:prstGeom>
          <a:noFill/>
        </p:spPr>
        <p:txBody>
          <a:bodyPr wrap="square" rtlCol="1">
            <a:spAutoFit/>
          </a:bodyPr>
          <a:lstStyle/>
          <a:p>
            <a:pPr algn="l"/>
            <a:r>
              <a:rPr lang="en-US" sz="3600" dirty="0"/>
              <a:t>Salsa_FSM</a:t>
            </a:r>
            <a:endParaRPr lang="he-IL" sz="3600" dirty="0"/>
          </a:p>
        </p:txBody>
      </p:sp>
      <p:pic>
        <p:nvPicPr>
          <p:cNvPr id="2" name="תמונה 1" descr="‪salsa block diagram.drawio - draw.io‬">
            <a:extLst>
              <a:ext uri="{FF2B5EF4-FFF2-40B4-BE49-F238E27FC236}">
                <a16:creationId xmlns:a16="http://schemas.microsoft.com/office/drawing/2014/main" id="{261C6198-2937-8B22-8688-4E3A2244C362}"/>
              </a:ext>
            </a:extLst>
          </p:cNvPr>
          <p:cNvPicPr>
            <a:picLocks noChangeAspect="1"/>
          </p:cNvPicPr>
          <p:nvPr/>
        </p:nvPicPr>
        <p:blipFill rotWithShape="1">
          <a:blip r:embed="rId2">
            <a:extLst>
              <a:ext uri="{28A0092B-C50C-407E-A947-70E740481C1C}">
                <a14:useLocalDpi xmlns:a14="http://schemas.microsoft.com/office/drawing/2010/main" val="0"/>
              </a:ext>
            </a:extLst>
          </a:blip>
          <a:srcRect l="24692" t="18574" r="25371" b="15925"/>
          <a:stretch>
            <a:fillRect/>
          </a:stretch>
        </p:blipFill>
        <p:spPr bwMode="auto">
          <a:xfrm>
            <a:off x="858742" y="1173586"/>
            <a:ext cx="7377173" cy="520053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95508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6B848-41D7-6BC9-06D4-9BFC6A757B6F}"/>
            </a:ext>
          </a:extLst>
        </p:cNvPr>
        <p:cNvGrpSpPr/>
        <p:nvPr/>
      </p:nvGrpSpPr>
      <p:grpSpPr>
        <a:xfrm>
          <a:off x="0" y="0"/>
          <a:ext cx="0" cy="0"/>
          <a:chOff x="0" y="0"/>
          <a:chExt cx="0" cy="0"/>
        </a:xfrm>
      </p:grpSpPr>
      <p:sp>
        <p:nvSpPr>
          <p:cNvPr id="4" name="תיבת טקסט 3">
            <a:extLst>
              <a:ext uri="{FF2B5EF4-FFF2-40B4-BE49-F238E27FC236}">
                <a16:creationId xmlns:a16="http://schemas.microsoft.com/office/drawing/2014/main" id="{661456A9-AE0C-1D61-F25F-D8F4D7056635}"/>
              </a:ext>
            </a:extLst>
          </p:cNvPr>
          <p:cNvSpPr txBox="1"/>
          <p:nvPr/>
        </p:nvSpPr>
        <p:spPr>
          <a:xfrm>
            <a:off x="425900" y="347689"/>
            <a:ext cx="3516197" cy="646331"/>
          </a:xfrm>
          <a:prstGeom prst="rect">
            <a:avLst/>
          </a:prstGeom>
          <a:noFill/>
        </p:spPr>
        <p:txBody>
          <a:bodyPr wrap="square" rtlCol="1">
            <a:spAutoFit/>
          </a:bodyPr>
          <a:lstStyle/>
          <a:p>
            <a:pPr algn="l"/>
            <a:r>
              <a:rPr lang="en-US" sz="3600" dirty="0"/>
              <a:t>UART</a:t>
            </a:r>
            <a:endParaRPr lang="he-IL" sz="3600" dirty="0"/>
          </a:p>
        </p:txBody>
      </p:sp>
      <p:pic>
        <p:nvPicPr>
          <p:cNvPr id="3" name="תמונה 2">
            <a:extLst>
              <a:ext uri="{FF2B5EF4-FFF2-40B4-BE49-F238E27FC236}">
                <a16:creationId xmlns:a16="http://schemas.microsoft.com/office/drawing/2014/main" id="{840E9B4C-68AE-14B1-B52A-CDF2466949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8237" y="1101196"/>
            <a:ext cx="5895678" cy="3523716"/>
          </a:xfrm>
          <a:prstGeom prst="rect">
            <a:avLst/>
          </a:prstGeom>
          <a:ln>
            <a:solidFill>
              <a:schemeClr val="tx1"/>
            </a:solidFill>
          </a:ln>
        </p:spPr>
      </p:pic>
      <mc:AlternateContent xmlns:mc="http://schemas.openxmlformats.org/markup-compatibility/2006" xmlns:a14="http://schemas.microsoft.com/office/drawing/2010/main">
        <mc:Choice Requires="a14">
          <p:sp>
            <p:nvSpPr>
              <p:cNvPr id="6" name="תיבת טקסט 5">
                <a:extLst>
                  <a:ext uri="{FF2B5EF4-FFF2-40B4-BE49-F238E27FC236}">
                    <a16:creationId xmlns:a16="http://schemas.microsoft.com/office/drawing/2014/main" id="{1C57CDF6-D9BA-EB9F-0749-459AEC6C9E7B}"/>
                  </a:ext>
                </a:extLst>
              </p:cNvPr>
              <p:cNvSpPr txBox="1"/>
              <p:nvPr/>
            </p:nvSpPr>
            <p:spPr>
              <a:xfrm>
                <a:off x="7110920" y="1241442"/>
                <a:ext cx="4355558" cy="5591852"/>
              </a:xfrm>
              <a:prstGeom prst="rect">
                <a:avLst/>
              </a:prstGeom>
              <a:noFill/>
            </p:spPr>
            <p:txBody>
              <a:bodyPr wrap="square">
                <a:spAutoFit/>
              </a:bodyPr>
              <a:lstStyle/>
              <a:p>
                <a:pPr marL="342900" lvl="0" indent="-342900" algn="r" rtl="1">
                  <a:lnSpc>
                    <a:spcPct val="107000"/>
                  </a:lnSpc>
                  <a:buFont typeface="Symbol" panose="05050102010706020507" pitchFamily="18" charset="2"/>
                  <a:buChar char=""/>
                </a:pPr>
                <a:r>
                  <a:rPr lang="he-IL" sz="1800" dirty="0">
                    <a:effectLst/>
                    <a:latin typeface="Calibri" panose="020F0502020204030204" pitchFamily="34" charset="0"/>
                    <a:ea typeface="Calibri" panose="020F0502020204030204" pitchFamily="34" charset="0"/>
                    <a:cs typeface="David" panose="020E0502060401010101" pitchFamily="34" charset="-79"/>
                  </a:rPr>
                  <a:t>קצב השידור (</a:t>
                </a:r>
                <a:r>
                  <a:rPr lang="en-US" sz="1800" dirty="0">
                    <a:effectLst/>
                    <a:latin typeface="David" panose="020E0502060401010101" pitchFamily="34" charset="-79"/>
                    <a:ea typeface="Calibri" panose="020F0502020204030204" pitchFamily="34" charset="0"/>
                    <a:cs typeface="David" panose="020E0502060401010101" pitchFamily="34" charset="-79"/>
                  </a:rPr>
                  <a:t>Baud Rate</a:t>
                </a:r>
                <a:r>
                  <a:rPr lang="he-IL" sz="1800" dirty="0">
                    <a:effectLst/>
                    <a:latin typeface="Calibri" panose="020F0502020204030204" pitchFamily="34" charset="0"/>
                    <a:ea typeface="Calibri" panose="020F0502020204030204" pitchFamily="34" charset="0"/>
                    <a:cs typeface="David" panose="020E0502060401010101" pitchFamily="34" charset="-79"/>
                  </a:rPr>
                  <a:t>), נמדד ביחידות של ביטים לשנייה (</a:t>
                </a:r>
                <a:r>
                  <a:rPr lang="en-US" sz="1800" dirty="0">
                    <a:effectLst/>
                    <a:latin typeface="David" panose="020E0502060401010101" pitchFamily="34" charset="-79"/>
                    <a:ea typeface="Calibri" panose="020F0502020204030204" pitchFamily="34" charset="0"/>
                    <a:cs typeface="David" panose="020E0502060401010101" pitchFamily="34" charset="-79"/>
                  </a:rPr>
                  <a:t>bps</a:t>
                </a:r>
                <a:r>
                  <a:rPr lang="he-IL" sz="1800" dirty="0">
                    <a:effectLst/>
                    <a:latin typeface="Calibri" panose="020F0502020204030204" pitchFamily="34" charset="0"/>
                    <a:ea typeface="Calibri" panose="020F0502020204030204" pitchFamily="34" charset="0"/>
                    <a:cs typeface="David" panose="020E0502060401010101" pitchFamily="34" charset="-79"/>
                  </a:rPr>
                  <a:t>).</a:t>
                </a:r>
                <a:br>
                  <a:rPr lang="en-US" sz="1800" dirty="0">
                    <a:effectLst/>
                    <a:latin typeface="Calibri" panose="020F0502020204030204" pitchFamily="34" charset="0"/>
                    <a:ea typeface="Calibri" panose="020F0502020204030204" pitchFamily="34" charset="0"/>
                    <a:cs typeface="David" panose="020E0502060401010101" pitchFamily="34" charset="-79"/>
                  </a:rPr>
                </a:br>
                <a:endParaRPr lang="he-IL" sz="1800" dirty="0">
                  <a:effectLst/>
                  <a:latin typeface="Calibri" panose="020F0502020204030204" pitchFamily="34" charset="0"/>
                  <a:ea typeface="Calibri" panose="020F0502020204030204" pitchFamily="34" charset="0"/>
                  <a:cs typeface="David" panose="020E0502060401010101" pitchFamily="34" charset="-79"/>
                </a:endParaRPr>
              </a:p>
              <a:p>
                <a:pPr marL="285750" lvl="0" indent="-285750" algn="r" rtl="1">
                  <a:lnSpc>
                    <a:spcPct val="107000"/>
                  </a:lnSpc>
                  <a:buFont typeface="Arial" panose="020B0604020202020204" pitchFamily="34" charset="0"/>
                  <a:buChar char="•"/>
                </a:pPr>
                <a:r>
                  <a:rPr lang="he-IL" sz="1800" dirty="0">
                    <a:effectLst/>
                    <a:latin typeface="Calibri" panose="020F0502020204030204" pitchFamily="34" charset="0"/>
                    <a:ea typeface="Calibri" panose="020F0502020204030204" pitchFamily="34" charset="0"/>
                    <a:cs typeface="David" panose="020E0502060401010101" pitchFamily="34" charset="-79"/>
                  </a:rPr>
                  <a:t> </a:t>
                </a:r>
                <a:r>
                  <a:rPr lang="en-US" sz="1800" dirty="0">
                    <a:effectLst/>
                    <a:latin typeface="David" panose="020E0502060401010101" pitchFamily="34" charset="-79"/>
                    <a:ea typeface="Calibri" panose="020F0502020204030204" pitchFamily="34" charset="0"/>
                    <a:cs typeface="David" panose="020E0502060401010101" pitchFamily="34" charset="-79"/>
                  </a:rPr>
                  <a:t>9,600 bps</a:t>
                </a:r>
                <a:r>
                  <a:rPr lang="he-IL" sz="1800" dirty="0">
                    <a:effectLst/>
                    <a:latin typeface="Calibri" panose="020F0502020204030204" pitchFamily="34" charset="0"/>
                    <a:ea typeface="Calibri" panose="020F0502020204030204" pitchFamily="34" charset="0"/>
                    <a:cs typeface="David" panose="020E0502060401010101" pitchFamily="34" charset="-79"/>
                  </a:rPr>
                  <a:t> הינו ערך נפוץ לקצב השידור.</a:t>
                </a:r>
                <a:br>
                  <a:rPr lang="en-US" sz="1800" dirty="0">
                    <a:effectLst/>
                    <a:latin typeface="Calibri" panose="020F0502020204030204" pitchFamily="34" charset="0"/>
                    <a:ea typeface="Calibri" panose="020F0502020204030204" pitchFamily="34" charset="0"/>
                    <a:cs typeface="David" panose="020E0502060401010101" pitchFamily="34" charset="-79"/>
                  </a:rPr>
                </a:br>
                <a:r>
                  <a:rPr lang="he-IL" b="1" dirty="0">
                    <a:latin typeface="Calibri" panose="020F0502020204030204" pitchFamily="34" charset="0"/>
                    <a:ea typeface="Calibri" panose="020F0502020204030204" pitchFamily="34" charset="0"/>
                    <a:cs typeface="David" panose="020E0502060401010101" pitchFamily="34" charset="-79"/>
                  </a:rPr>
                  <a:t>בפרויקט זה השתמשתי ב-</a:t>
                </a:r>
                <a:r>
                  <a:rPr lang="en-US" b="1" dirty="0">
                    <a:latin typeface="Calibri" panose="020F0502020204030204" pitchFamily="34" charset="0"/>
                    <a:ea typeface="Calibri" panose="020F0502020204030204" pitchFamily="34" charset="0"/>
                    <a:cs typeface="David" panose="020E0502060401010101" pitchFamily="34" charset="-79"/>
                  </a:rPr>
                  <a:t>10,000 bps</a:t>
                </a:r>
                <a:r>
                  <a:rPr lang="he-IL" b="1" dirty="0">
                    <a:latin typeface="Calibri" panose="020F0502020204030204" pitchFamily="34" charset="0"/>
                    <a:ea typeface="Calibri" panose="020F0502020204030204" pitchFamily="34" charset="0"/>
                    <a:cs typeface="David" panose="020E0502060401010101" pitchFamily="34" charset="-79"/>
                  </a:rPr>
                  <a:t>.</a:t>
                </a:r>
                <a:br>
                  <a:rPr lang="en-US" b="1" dirty="0">
                    <a:latin typeface="Calibri" panose="020F0502020204030204" pitchFamily="34" charset="0"/>
                    <a:ea typeface="Calibri" panose="020F0502020204030204" pitchFamily="34" charset="0"/>
                    <a:cs typeface="David" panose="020E0502060401010101" pitchFamily="34" charset="-79"/>
                  </a:rPr>
                </a:br>
                <a:endParaRPr lang="he-IL" dirty="0">
                  <a:latin typeface="Calibri" panose="020F0502020204030204" pitchFamily="34" charset="0"/>
                  <a:ea typeface="Calibri" panose="020F0502020204030204" pitchFamily="34" charset="0"/>
                  <a:cs typeface="David" panose="020E0502060401010101" pitchFamily="34" charset="-79"/>
                </a:endParaRPr>
              </a:p>
              <a:p>
                <a:pPr marL="285750" lvl="0" indent="-285750" algn="r" rtl="1">
                  <a:lnSpc>
                    <a:spcPct val="107000"/>
                  </a:lnSpc>
                  <a:buFont typeface="Arial" panose="020B0604020202020204" pitchFamily="34" charset="0"/>
                  <a:buChar char="•"/>
                </a:pPr>
                <a:r>
                  <a:rPr lang="he-IL" sz="1800" dirty="0">
                    <a:effectLst/>
                    <a:latin typeface="Calibri" panose="020F0502020204030204" pitchFamily="34" charset="0"/>
                    <a:ea typeface="Calibri" panose="020F0502020204030204" pitchFamily="34" charset="0"/>
                    <a:cs typeface="David" panose="020E0502060401010101" pitchFamily="34" charset="-79"/>
                  </a:rPr>
                  <a:t> חייב להיות סנכרון של קצב השידור בין הצדדים.</a:t>
                </a:r>
                <a:br>
                  <a:rPr lang="en-US" sz="1800" dirty="0">
                    <a:effectLst/>
                    <a:latin typeface="Calibri" panose="020F0502020204030204" pitchFamily="34" charset="0"/>
                    <a:ea typeface="Calibri" panose="020F0502020204030204" pitchFamily="34" charset="0"/>
                    <a:cs typeface="David" panose="020E0502060401010101" pitchFamily="34" charset="-79"/>
                  </a:rPr>
                </a:br>
                <a:endParaRPr lang="en-US" sz="1800" dirty="0">
                  <a:effectLst/>
                  <a:latin typeface="Calibri" panose="020F0502020204030204" pitchFamily="34" charset="0"/>
                  <a:ea typeface="Calibri" panose="020F0502020204030204" pitchFamily="34" charset="0"/>
                  <a:cs typeface="David" panose="020E0502060401010101" pitchFamily="34" charset="-79"/>
                </a:endParaRPr>
              </a:p>
              <a:p>
                <a:pPr marL="285750" lvl="0" indent="-285750">
                  <a:lnSpc>
                    <a:spcPct val="107000"/>
                  </a:lnSpc>
                  <a:buFont typeface="Arial" panose="020B0604020202020204" pitchFamily="34" charset="0"/>
                  <a:buChar char="•"/>
                </a:pPr>
                <a:r>
                  <a:rPr lang="he-IL" sz="1800" dirty="0">
                    <a:effectLst/>
                    <a:latin typeface="Calibri" panose="020F0502020204030204" pitchFamily="34" charset="0"/>
                    <a:ea typeface="Calibri" panose="020F0502020204030204" pitchFamily="34" charset="0"/>
                    <a:cs typeface="David" panose="020E0502060401010101" pitchFamily="34" charset="-79"/>
                  </a:rPr>
                  <a:t>הביטוי לחישוב מספר מחזורי השעון (</a:t>
                </a:r>
                <a:r>
                  <a:rPr lang="en-US" sz="1800" dirty="0">
                    <a:effectLst/>
                    <a:latin typeface="David" panose="020E0502060401010101" pitchFamily="34" charset="-79"/>
                    <a:ea typeface="Calibri" panose="020F0502020204030204" pitchFamily="34" charset="0"/>
                    <a:cs typeface="David" panose="020E0502060401010101" pitchFamily="34" charset="-79"/>
                  </a:rPr>
                  <a:t>N</a:t>
                </a:r>
                <a:r>
                  <a:rPr lang="he-IL" sz="1800" dirty="0">
                    <a:effectLst/>
                    <a:latin typeface="Calibri" panose="020F0502020204030204" pitchFamily="34" charset="0"/>
                    <a:ea typeface="Calibri" panose="020F0502020204030204" pitchFamily="34" charset="0"/>
                    <a:cs typeface="David" panose="020E0502060401010101" pitchFamily="34" charset="-79"/>
                  </a:rPr>
                  <a:t>) למעבר ביט אחד:</a:t>
                </a:r>
                <a:br>
                  <a:rPr lang="he-IL" sz="1800" dirty="0">
                    <a:effectLst/>
                    <a:latin typeface="Calibri" panose="020F0502020204030204" pitchFamily="34" charset="0"/>
                    <a:ea typeface="Calibri" panose="020F0502020204030204" pitchFamily="34" charset="0"/>
                    <a:cs typeface="David" panose="020E0502060401010101" pitchFamily="34" charset="-79"/>
                  </a:rPr>
                </a:b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𝑓</m:t>
                            </m:r>
                          </m:e>
                          <m:sub>
                            <m:d>
                              <m:dPr>
                                <m:begChr m:val="["/>
                                <m:endChr m:val="]"/>
                                <m:ctrlPr>
                                  <a:rPr lang="en-US" i="1">
                                    <a:latin typeface="Cambria Math" panose="02040503050406030204" pitchFamily="18" charset="0"/>
                                  </a:rPr>
                                </m:ctrlPr>
                              </m:dPr>
                              <m:e>
                                <m:r>
                                  <a:rPr lang="en-US" i="1">
                                    <a:latin typeface="Cambria Math" panose="02040503050406030204" pitchFamily="18" charset="0"/>
                                  </a:rPr>
                                  <m:t>𝐻𝑧</m:t>
                                </m:r>
                              </m:e>
                            </m:d>
                          </m:sub>
                        </m:sSub>
                      </m:num>
                      <m:den>
                        <m:sSub>
                          <m:sSubPr>
                            <m:ctrlPr>
                              <a:rPr lang="en-US" i="1">
                                <a:latin typeface="Cambria Math" panose="02040503050406030204" pitchFamily="18" charset="0"/>
                              </a:rPr>
                            </m:ctrlPr>
                          </m:sSubPr>
                          <m:e>
                            <m:r>
                              <a:rPr lang="en-US" i="1">
                                <a:latin typeface="Cambria Math" panose="02040503050406030204" pitchFamily="18" charset="0"/>
                              </a:rPr>
                              <m:t>𝐵𝑎𝑢𝑑𝑅𝑎𝑡𝑒</m:t>
                            </m:r>
                          </m:e>
                          <m:sub>
                            <m:d>
                              <m:dPr>
                                <m:begChr m:val="["/>
                                <m:endChr m:val="]"/>
                                <m:ctrlPr>
                                  <a:rPr lang="en-US" i="1">
                                    <a:latin typeface="Cambria Math" panose="02040503050406030204" pitchFamily="18" charset="0"/>
                                  </a:rPr>
                                </m:ctrlPr>
                              </m:dPr>
                              <m:e>
                                <m:r>
                                  <a:rPr lang="en-US" i="1">
                                    <a:latin typeface="Cambria Math" panose="02040503050406030204" pitchFamily="18" charset="0"/>
                                  </a:rPr>
                                  <m:t>𝑏𝑝𝑠</m:t>
                                </m:r>
                              </m:e>
                            </m:d>
                          </m:sub>
                        </m:sSub>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50</m:t>
                        </m:r>
                        <m:r>
                          <a:rPr lang="en-US" b="0" i="1" smtClean="0">
                            <a:latin typeface="Cambria Math" panose="02040503050406030204" pitchFamily="18" charset="0"/>
                          </a:rPr>
                          <m:t>𝑀</m:t>
                        </m:r>
                      </m:num>
                      <m:den>
                        <m:r>
                          <a:rPr lang="en-US" b="0" i="1" smtClean="0">
                            <a:latin typeface="Cambria Math" panose="02040503050406030204" pitchFamily="18" charset="0"/>
                          </a:rPr>
                          <m:t>10</m:t>
                        </m:r>
                        <m:r>
                          <a:rPr lang="en-US" b="0" i="1" smtClean="0">
                            <a:latin typeface="Cambria Math" panose="02040503050406030204" pitchFamily="18" charset="0"/>
                          </a:rPr>
                          <m:t>,</m:t>
                        </m:r>
                        <m:r>
                          <a:rPr lang="en-US" b="0" i="1" smtClean="0">
                            <a:latin typeface="Cambria Math" panose="02040503050406030204" pitchFamily="18" charset="0"/>
                          </a:rPr>
                          <m:t>000</m:t>
                        </m:r>
                      </m:den>
                    </m:f>
                    <m:r>
                      <a:rPr lang="en-US" b="0" i="1" smtClean="0">
                        <a:latin typeface="Cambria Math" panose="02040503050406030204" pitchFamily="18" charset="0"/>
                      </a:rPr>
                      <m:t>=</m:t>
                    </m:r>
                    <m:r>
                      <a:rPr lang="en-US" b="0" i="1" smtClean="0">
                        <a:latin typeface="Cambria Math" panose="02040503050406030204" pitchFamily="18" charset="0"/>
                      </a:rPr>
                      <m:t>5</m:t>
                    </m:r>
                    <m:r>
                      <a:rPr lang="en-US" b="0" i="1" smtClean="0">
                        <a:latin typeface="Cambria Math" panose="02040503050406030204" pitchFamily="18" charset="0"/>
                      </a:rPr>
                      <m:t>,</m:t>
                    </m:r>
                    <m:r>
                      <a:rPr lang="en-US" b="0" i="1" smtClean="0">
                        <a:latin typeface="Cambria Math" panose="02040503050406030204" pitchFamily="18" charset="0"/>
                      </a:rPr>
                      <m:t>000</m:t>
                    </m:r>
                  </m:oMath>
                </a14:m>
                <a:br>
                  <a:rPr lang="en-US" b="0" dirty="0">
                    <a:latin typeface="Calibri" panose="020F0502020204030204" pitchFamily="34" charset="0"/>
                  </a:rPr>
                </a:br>
                <a:endParaRPr lang="en-US" sz="1800" dirty="0">
                  <a:effectLst/>
                  <a:latin typeface="Calibri" panose="020F0502020204030204" pitchFamily="34" charset="0"/>
                  <a:ea typeface="Calibri" panose="020F0502020204030204" pitchFamily="34" charset="0"/>
                  <a:cs typeface="David" panose="020E0502060401010101" pitchFamily="34" charset="-79"/>
                </a:endParaRPr>
              </a:p>
              <a:p>
                <a:pPr lvl="0">
                  <a:lnSpc>
                    <a:spcPct val="107000"/>
                  </a:lnSpc>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𝑓</m:t>
                              </m:r>
                            </m:e>
                            <m:sub>
                              <m:d>
                                <m:dPr>
                                  <m:begChr m:val="["/>
                                  <m:endChr m:val="]"/>
                                  <m:ctrlPr>
                                    <a:rPr lang="en-US" i="1">
                                      <a:latin typeface="Cambria Math" panose="02040503050406030204" pitchFamily="18" charset="0"/>
                                    </a:rPr>
                                  </m:ctrlPr>
                                </m:dPr>
                                <m:e>
                                  <m:r>
                                    <a:rPr lang="en-US" i="1">
                                      <a:latin typeface="Cambria Math" panose="02040503050406030204" pitchFamily="18" charset="0"/>
                                    </a:rPr>
                                    <m:t>𝐻𝑧</m:t>
                                  </m:r>
                                </m:e>
                              </m:d>
                            </m:sub>
                          </m:sSub>
                        </m:num>
                        <m:den>
                          <m:sSub>
                            <m:sSubPr>
                              <m:ctrlPr>
                                <a:rPr lang="en-US" i="1">
                                  <a:latin typeface="Cambria Math" panose="02040503050406030204" pitchFamily="18" charset="0"/>
                                </a:rPr>
                              </m:ctrlPr>
                            </m:sSubPr>
                            <m:e>
                              <m:r>
                                <a:rPr lang="en-US" i="1">
                                  <a:latin typeface="Cambria Math" panose="02040503050406030204" pitchFamily="18" charset="0"/>
                                </a:rPr>
                                <m:t>𝐵𝑎𝑢𝑑𝑅𝑎𝑡𝑒</m:t>
                              </m:r>
                            </m:e>
                            <m:sub>
                              <m:d>
                                <m:dPr>
                                  <m:begChr m:val="["/>
                                  <m:endChr m:val="]"/>
                                  <m:ctrlPr>
                                    <a:rPr lang="en-US" i="1">
                                      <a:latin typeface="Cambria Math" panose="02040503050406030204" pitchFamily="18" charset="0"/>
                                    </a:rPr>
                                  </m:ctrlPr>
                                </m:dPr>
                                <m:e>
                                  <m:r>
                                    <a:rPr lang="en-US" i="1">
                                      <a:latin typeface="Cambria Math" panose="02040503050406030204" pitchFamily="18" charset="0"/>
                                    </a:rPr>
                                    <m:t>𝑏𝑝𝑠</m:t>
                                  </m:r>
                                </m:e>
                              </m:d>
                            </m:sub>
                          </m:sSub>
                        </m:den>
                      </m:f>
                      <m:r>
                        <a:rPr lang="en-US" i="1">
                          <a:latin typeface="Cambria Math" panose="02040503050406030204" pitchFamily="18" charset="0"/>
                        </a:rPr>
                        <m:t>= </m:t>
                      </m:r>
                      <m:f>
                        <m:fPr>
                          <m:ctrlPr>
                            <a:rPr lang="en-US" i="1">
                              <a:latin typeface="Cambria Math" panose="02040503050406030204" pitchFamily="18" charset="0"/>
                            </a:rPr>
                          </m:ctrlPr>
                        </m:fPr>
                        <m:num>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𝑀</m:t>
                          </m:r>
                        </m:num>
                        <m:den>
                          <m:r>
                            <a:rPr lang="en-US" i="1">
                              <a:latin typeface="Cambria Math" panose="02040503050406030204" pitchFamily="18" charset="0"/>
                            </a:rPr>
                            <m:t>10</m:t>
                          </m:r>
                          <m:r>
                            <a:rPr lang="en-US" i="1">
                              <a:latin typeface="Cambria Math" panose="02040503050406030204" pitchFamily="18" charset="0"/>
                            </a:rPr>
                            <m:t>,</m:t>
                          </m:r>
                          <m:r>
                            <a:rPr lang="en-US" i="1">
                              <a:latin typeface="Cambria Math" panose="02040503050406030204" pitchFamily="18" charset="0"/>
                            </a:rPr>
                            <m:t>000</m:t>
                          </m:r>
                        </m:den>
                      </m:f>
                      <m:r>
                        <a:rPr lang="en-US" i="1">
                          <a:latin typeface="Cambria Math" panose="02040503050406030204" pitchFamily="18" charset="0"/>
                        </a:rPr>
                        <m:t>=</m:t>
                      </m:r>
                      <m:r>
                        <a:rPr lang="en-US" b="0" i="1" smtClean="0">
                          <a:latin typeface="Cambria Math" panose="02040503050406030204" pitchFamily="18" charset="0"/>
                        </a:rPr>
                        <m:t>10</m:t>
                      </m:r>
                      <m:r>
                        <a:rPr lang="en-US" b="0" i="1" smtClean="0">
                          <a:latin typeface="Cambria Math" panose="02040503050406030204" pitchFamily="18" charset="0"/>
                        </a:rPr>
                        <m:t>,</m:t>
                      </m:r>
                      <m:r>
                        <a:rPr lang="en-US" b="0" i="1" smtClean="0">
                          <a:latin typeface="Cambria Math" panose="02040503050406030204" pitchFamily="18" charset="0"/>
                        </a:rPr>
                        <m:t>000</m:t>
                      </m:r>
                    </m:oMath>
                  </m:oMathPara>
                </a14:m>
                <a:endParaRPr lang="en-US" sz="1800" dirty="0">
                  <a:effectLst/>
                  <a:latin typeface="Calibri" panose="020F0502020204030204" pitchFamily="34" charset="0"/>
                  <a:ea typeface="Calibri" panose="020F0502020204030204" pitchFamily="34" charset="0"/>
                  <a:cs typeface="David" panose="020E0502060401010101" pitchFamily="34" charset="-79"/>
                </a:endParaRPr>
              </a:p>
              <a:p>
                <a:pPr>
                  <a:lnSpc>
                    <a:spcPct val="107000"/>
                  </a:lnSpc>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𝑓</m:t>
                              </m:r>
                            </m:e>
                            <m:sub>
                              <m:d>
                                <m:dPr>
                                  <m:begChr m:val="["/>
                                  <m:endChr m:val="]"/>
                                  <m:ctrlPr>
                                    <a:rPr lang="en-US" i="1">
                                      <a:latin typeface="Cambria Math" panose="02040503050406030204" pitchFamily="18" charset="0"/>
                                    </a:rPr>
                                  </m:ctrlPr>
                                </m:dPr>
                                <m:e>
                                  <m:r>
                                    <a:rPr lang="en-US" i="1">
                                      <a:latin typeface="Cambria Math" panose="02040503050406030204" pitchFamily="18" charset="0"/>
                                    </a:rPr>
                                    <m:t>𝐻𝑧</m:t>
                                  </m:r>
                                </m:e>
                              </m:d>
                            </m:sub>
                          </m:sSub>
                        </m:num>
                        <m:den>
                          <m:sSub>
                            <m:sSubPr>
                              <m:ctrlPr>
                                <a:rPr lang="en-US" i="1">
                                  <a:latin typeface="Cambria Math" panose="02040503050406030204" pitchFamily="18" charset="0"/>
                                </a:rPr>
                              </m:ctrlPr>
                            </m:sSubPr>
                            <m:e>
                              <m:r>
                                <a:rPr lang="en-US" i="1">
                                  <a:latin typeface="Cambria Math" panose="02040503050406030204" pitchFamily="18" charset="0"/>
                                </a:rPr>
                                <m:t>𝐵𝑎𝑢𝑑𝑅𝑎𝑡𝑒</m:t>
                              </m:r>
                            </m:e>
                            <m:sub>
                              <m:d>
                                <m:dPr>
                                  <m:begChr m:val="["/>
                                  <m:endChr m:val="]"/>
                                  <m:ctrlPr>
                                    <a:rPr lang="en-US" i="1">
                                      <a:latin typeface="Cambria Math" panose="02040503050406030204" pitchFamily="18" charset="0"/>
                                    </a:rPr>
                                  </m:ctrlPr>
                                </m:dPr>
                                <m:e>
                                  <m:r>
                                    <a:rPr lang="en-US" i="1">
                                      <a:latin typeface="Cambria Math" panose="02040503050406030204" pitchFamily="18" charset="0"/>
                                    </a:rPr>
                                    <m:t>𝑏𝑝𝑠</m:t>
                                  </m:r>
                                </m:e>
                              </m:d>
                            </m:sub>
                          </m:sSub>
                        </m:den>
                      </m:f>
                      <m:r>
                        <a:rPr lang="en-US" i="1">
                          <a:latin typeface="Cambria Math" panose="02040503050406030204" pitchFamily="18" charset="0"/>
                        </a:rPr>
                        <m:t>= </m:t>
                      </m:r>
                      <m:f>
                        <m:fPr>
                          <m:ctrlPr>
                            <a:rPr lang="en-US" i="1">
                              <a:latin typeface="Cambria Math" panose="02040503050406030204" pitchFamily="18" charset="0"/>
                            </a:rPr>
                          </m:ctrlPr>
                        </m:fPr>
                        <m:num>
                          <m:r>
                            <a:rPr lang="en-US" b="0" i="1" smtClean="0">
                              <a:latin typeface="Cambria Math" panose="02040503050406030204" pitchFamily="18" charset="0"/>
                            </a:rPr>
                            <m:t>8</m:t>
                          </m:r>
                          <m:r>
                            <a:rPr lang="en-US" i="1">
                              <a:latin typeface="Cambria Math" panose="02040503050406030204" pitchFamily="18" charset="0"/>
                            </a:rPr>
                            <m:t>0</m:t>
                          </m:r>
                          <m:r>
                            <a:rPr lang="en-US" i="1">
                              <a:latin typeface="Cambria Math" panose="02040503050406030204" pitchFamily="18" charset="0"/>
                            </a:rPr>
                            <m:t>𝑀</m:t>
                          </m:r>
                        </m:num>
                        <m:den>
                          <m:r>
                            <a:rPr lang="en-US" i="1">
                              <a:latin typeface="Cambria Math" panose="02040503050406030204" pitchFamily="18" charset="0"/>
                            </a:rPr>
                            <m:t>10</m:t>
                          </m:r>
                          <m:r>
                            <a:rPr lang="en-US" i="1">
                              <a:latin typeface="Cambria Math" panose="02040503050406030204" pitchFamily="18" charset="0"/>
                            </a:rPr>
                            <m:t>,</m:t>
                          </m:r>
                          <m:r>
                            <a:rPr lang="en-US" i="1">
                              <a:latin typeface="Cambria Math" panose="02040503050406030204" pitchFamily="18" charset="0"/>
                            </a:rPr>
                            <m:t>000</m:t>
                          </m:r>
                        </m:den>
                      </m:f>
                      <m:r>
                        <a:rPr lang="en-US" i="1">
                          <a:latin typeface="Cambria Math" panose="02040503050406030204" pitchFamily="18" charset="0"/>
                        </a:rPr>
                        <m:t>=</m:t>
                      </m:r>
                      <m:r>
                        <a:rPr lang="en-US" b="0" i="1" smtClean="0">
                          <a:latin typeface="Cambria Math" panose="02040503050406030204" pitchFamily="18" charset="0"/>
                        </a:rPr>
                        <m:t>8</m:t>
                      </m:r>
                      <m:r>
                        <a:rPr lang="en-US" i="1">
                          <a:latin typeface="Cambria Math" panose="02040503050406030204" pitchFamily="18" charset="0"/>
                        </a:rPr>
                        <m:t>,</m:t>
                      </m:r>
                      <m:r>
                        <a:rPr lang="en-US" i="1">
                          <a:latin typeface="Cambria Math" panose="02040503050406030204" pitchFamily="18" charset="0"/>
                        </a:rPr>
                        <m:t>000</m:t>
                      </m:r>
                    </m:oMath>
                  </m:oMathPara>
                </a14:m>
                <a:endParaRPr lang="en-US" dirty="0">
                  <a:latin typeface="Calibri" panose="020F0502020204030204" pitchFamily="34" charset="0"/>
                  <a:ea typeface="Calibri" panose="020F0502020204030204" pitchFamily="34" charset="0"/>
                  <a:cs typeface="David" panose="020E0502060401010101" pitchFamily="34" charset="-79"/>
                </a:endParaRPr>
              </a:p>
              <a:p>
                <a:pPr lvl="0">
                  <a:lnSpc>
                    <a:spcPct val="107000"/>
                  </a:lnSpc>
                </a:pPr>
                <a:endParaRPr lang="en-US" sz="1800" dirty="0">
                  <a:effectLst/>
                  <a:latin typeface="Calibri" panose="020F0502020204030204" pitchFamily="34" charset="0"/>
                  <a:ea typeface="Calibri" panose="020F0502020204030204" pitchFamily="34" charset="0"/>
                  <a:cs typeface="David" panose="020E0502060401010101" pitchFamily="34" charset="-79"/>
                </a:endParaRPr>
              </a:p>
            </p:txBody>
          </p:sp>
        </mc:Choice>
        <mc:Fallback xmlns="">
          <p:sp>
            <p:nvSpPr>
              <p:cNvPr id="6" name="תיבת טקסט 5">
                <a:extLst>
                  <a:ext uri="{FF2B5EF4-FFF2-40B4-BE49-F238E27FC236}">
                    <a16:creationId xmlns:a16="http://schemas.microsoft.com/office/drawing/2014/main" id="{1C57CDF6-D9BA-EB9F-0749-459AEC6C9E7B}"/>
                  </a:ext>
                </a:extLst>
              </p:cNvPr>
              <p:cNvSpPr txBox="1">
                <a:spLocks noRot="1" noChangeAspect="1" noMove="1" noResize="1" noEditPoints="1" noAdjustHandles="1" noChangeArrowheads="1" noChangeShapeType="1" noTextEdit="1"/>
              </p:cNvSpPr>
              <p:nvPr/>
            </p:nvSpPr>
            <p:spPr>
              <a:xfrm>
                <a:off x="7110920" y="1241442"/>
                <a:ext cx="4355558" cy="5591852"/>
              </a:xfrm>
              <a:prstGeom prst="rect">
                <a:avLst/>
              </a:prstGeom>
              <a:blipFill>
                <a:blip r:embed="rId3"/>
                <a:stretch>
                  <a:fillRect t="-763" r="-1259"/>
                </a:stretch>
              </a:blipFill>
            </p:spPr>
            <p:txBody>
              <a:bodyPr/>
              <a:lstStyle/>
              <a:p>
                <a:r>
                  <a:rPr lang="he-IL">
                    <a:noFill/>
                  </a:rPr>
                  <a:t> </a:t>
                </a:r>
              </a:p>
            </p:txBody>
          </p:sp>
        </mc:Fallback>
      </mc:AlternateContent>
    </p:spTree>
    <p:extLst>
      <p:ext uri="{BB962C8B-B14F-4D97-AF65-F5344CB8AC3E}">
        <p14:creationId xmlns:p14="http://schemas.microsoft.com/office/powerpoint/2010/main" val="4050007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45AF8-AB96-2CEE-3759-C31D4243EEF6}"/>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57583D26-B44B-EED8-49E0-7D851BA23446}"/>
              </a:ext>
            </a:extLst>
          </p:cNvPr>
          <p:cNvSpPr txBox="1"/>
          <p:nvPr/>
        </p:nvSpPr>
        <p:spPr>
          <a:xfrm>
            <a:off x="4204355" y="688157"/>
            <a:ext cx="6900419" cy="646331"/>
          </a:xfrm>
          <a:prstGeom prst="rect">
            <a:avLst/>
          </a:prstGeom>
          <a:noFill/>
        </p:spPr>
        <p:txBody>
          <a:bodyPr wrap="square" rtlCol="1">
            <a:spAutoFit/>
          </a:bodyPr>
          <a:lstStyle/>
          <a:p>
            <a:r>
              <a:rPr lang="he-IL" sz="3600" dirty="0"/>
              <a:t>שיטת תכנון האלגוריתם - </a:t>
            </a:r>
            <a:r>
              <a:rPr lang="en-US" sz="3600" dirty="0"/>
              <a:t>Unrolling</a:t>
            </a:r>
            <a:endParaRPr lang="he-IL" sz="3600" dirty="0"/>
          </a:p>
        </p:txBody>
      </p:sp>
      <p:pic>
        <p:nvPicPr>
          <p:cNvPr id="3" name="תמונה 2">
            <a:extLst>
              <a:ext uri="{FF2B5EF4-FFF2-40B4-BE49-F238E27FC236}">
                <a16:creationId xmlns:a16="http://schemas.microsoft.com/office/drawing/2014/main" id="{59DE4371-B08D-D11A-E184-63169A61D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488" y="1728159"/>
            <a:ext cx="6883734" cy="3401681"/>
          </a:xfrm>
          <a:prstGeom prst="rect">
            <a:avLst/>
          </a:prstGeom>
          <a:ln>
            <a:solidFill>
              <a:schemeClr val="tx1"/>
            </a:solidFill>
          </a:ln>
        </p:spPr>
      </p:pic>
      <p:graphicFrame>
        <p:nvGraphicFramePr>
          <p:cNvPr id="4" name="טבלה 3">
            <a:extLst>
              <a:ext uri="{FF2B5EF4-FFF2-40B4-BE49-F238E27FC236}">
                <a16:creationId xmlns:a16="http://schemas.microsoft.com/office/drawing/2014/main" id="{EC4E8083-D200-DFF3-C384-1D31A53E9CF5}"/>
              </a:ext>
            </a:extLst>
          </p:cNvPr>
          <p:cNvGraphicFramePr>
            <a:graphicFrameLocks noGrp="1"/>
          </p:cNvGraphicFramePr>
          <p:nvPr>
            <p:extLst>
              <p:ext uri="{D42A27DB-BD31-4B8C-83A1-F6EECF244321}">
                <p14:modId xmlns:p14="http://schemas.microsoft.com/office/powerpoint/2010/main" val="1598042101"/>
              </p:ext>
            </p:extLst>
          </p:nvPr>
        </p:nvGraphicFramePr>
        <p:xfrm>
          <a:off x="8119447" y="1728159"/>
          <a:ext cx="3437814" cy="2224871"/>
        </p:xfrm>
        <a:graphic>
          <a:graphicData uri="http://schemas.openxmlformats.org/drawingml/2006/table">
            <a:tbl>
              <a:tblPr rtl="1" firstRow="1" firstCol="1" bandRow="1">
                <a:tableStyleId>{D7AC3CCA-C797-4891-BE02-D94E43425B78}</a:tableStyleId>
              </a:tblPr>
              <a:tblGrid>
                <a:gridCol w="1593129">
                  <a:extLst>
                    <a:ext uri="{9D8B030D-6E8A-4147-A177-3AD203B41FA5}">
                      <a16:colId xmlns:a16="http://schemas.microsoft.com/office/drawing/2014/main" val="1757137772"/>
                    </a:ext>
                  </a:extLst>
                </a:gridCol>
                <a:gridCol w="1844685">
                  <a:extLst>
                    <a:ext uri="{9D8B030D-6E8A-4147-A177-3AD203B41FA5}">
                      <a16:colId xmlns:a16="http://schemas.microsoft.com/office/drawing/2014/main" val="2851756614"/>
                    </a:ext>
                  </a:extLst>
                </a:gridCol>
              </a:tblGrid>
              <a:tr h="411009">
                <a:tc>
                  <a:txBody>
                    <a:bodyPr/>
                    <a:lstStyle/>
                    <a:p>
                      <a:pPr algn="ctr" rtl="0">
                        <a:lnSpc>
                          <a:spcPct val="107000"/>
                        </a:lnSpc>
                        <a:spcAft>
                          <a:spcPts val="800"/>
                        </a:spcAft>
                        <a:buNone/>
                      </a:pPr>
                      <a:r>
                        <a:rPr lang="en-US" sz="1800" dirty="0">
                          <a:effectLst/>
                        </a:rPr>
                        <a:t>Total number </a:t>
                      </a:r>
                      <a:br>
                        <a:rPr lang="en-US" sz="1800" dirty="0">
                          <a:effectLst/>
                        </a:rPr>
                      </a:br>
                      <a:r>
                        <a:rPr lang="en-US" sz="1800" dirty="0">
                          <a:effectLst/>
                        </a:rPr>
                        <a:t>of instances</a:t>
                      </a:r>
                      <a:endParaRPr lang="en-US" sz="18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ctr" rtl="0">
                        <a:lnSpc>
                          <a:spcPct val="107000"/>
                        </a:lnSpc>
                        <a:spcAft>
                          <a:spcPts val="800"/>
                        </a:spcAft>
                        <a:buNone/>
                      </a:pPr>
                      <a:r>
                        <a:rPr lang="en-US" sz="1800" dirty="0">
                          <a:effectLst/>
                        </a:rPr>
                        <a:t>Module Name</a:t>
                      </a:r>
                      <a:endParaRPr lang="en-US" sz="18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extLst>
                  <a:ext uri="{0D108BD9-81ED-4DB2-BD59-A6C34878D82A}">
                    <a16:rowId xmlns:a16="http://schemas.microsoft.com/office/drawing/2014/main" val="1394445720"/>
                  </a:ext>
                </a:extLst>
              </a:tr>
              <a:tr h="411009">
                <a:tc>
                  <a:txBody>
                    <a:bodyPr/>
                    <a:lstStyle/>
                    <a:p>
                      <a:pPr algn="ctr" rtl="0">
                        <a:lnSpc>
                          <a:spcPct val="107000"/>
                        </a:lnSpc>
                        <a:spcAft>
                          <a:spcPts val="800"/>
                        </a:spcAft>
                        <a:buNone/>
                      </a:pPr>
                      <a:r>
                        <a:rPr lang="en-US" sz="1800" dirty="0">
                          <a:effectLst/>
                        </a:rPr>
                        <a:t>20</a:t>
                      </a:r>
                      <a:endParaRPr lang="en-US" sz="18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l" rtl="0">
                        <a:lnSpc>
                          <a:spcPct val="107000"/>
                        </a:lnSpc>
                        <a:spcAft>
                          <a:spcPts val="800"/>
                        </a:spcAft>
                        <a:buNone/>
                      </a:pPr>
                      <a:r>
                        <a:rPr lang="en-US" sz="1800" dirty="0">
                          <a:effectLst/>
                        </a:rPr>
                        <a:t>quarter_round.sv</a:t>
                      </a:r>
                      <a:endParaRPr lang="en-US" sz="18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extLst>
                  <a:ext uri="{0D108BD9-81ED-4DB2-BD59-A6C34878D82A}">
                    <a16:rowId xmlns:a16="http://schemas.microsoft.com/office/drawing/2014/main" val="3767680916"/>
                  </a:ext>
                </a:extLst>
              </a:tr>
              <a:tr h="411009">
                <a:tc>
                  <a:txBody>
                    <a:bodyPr/>
                    <a:lstStyle/>
                    <a:p>
                      <a:pPr algn="ctr" rtl="0">
                        <a:lnSpc>
                          <a:spcPct val="107000"/>
                        </a:lnSpc>
                        <a:spcAft>
                          <a:spcPts val="800"/>
                        </a:spcAft>
                        <a:buNone/>
                      </a:pPr>
                      <a:r>
                        <a:rPr lang="en-US" sz="1800" dirty="0">
                          <a:effectLst/>
                        </a:rPr>
                        <a:t>10</a:t>
                      </a:r>
                      <a:endParaRPr lang="en-US" sz="18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l" rtl="0">
                        <a:lnSpc>
                          <a:spcPct val="107000"/>
                        </a:lnSpc>
                        <a:spcAft>
                          <a:spcPts val="800"/>
                        </a:spcAft>
                        <a:buNone/>
                      </a:pPr>
                      <a:r>
                        <a:rPr lang="en-US" sz="1800" dirty="0">
                          <a:effectLst/>
                        </a:rPr>
                        <a:t>row_round.sv</a:t>
                      </a:r>
                      <a:endParaRPr lang="en-US" sz="18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extLst>
                  <a:ext uri="{0D108BD9-81ED-4DB2-BD59-A6C34878D82A}">
                    <a16:rowId xmlns:a16="http://schemas.microsoft.com/office/drawing/2014/main" val="3295547297"/>
                  </a:ext>
                </a:extLst>
              </a:tr>
              <a:tr h="411009">
                <a:tc>
                  <a:txBody>
                    <a:bodyPr/>
                    <a:lstStyle/>
                    <a:p>
                      <a:pPr algn="ctr" rtl="0">
                        <a:lnSpc>
                          <a:spcPct val="107000"/>
                        </a:lnSpc>
                        <a:spcAft>
                          <a:spcPts val="800"/>
                        </a:spcAft>
                        <a:buNone/>
                      </a:pPr>
                      <a:r>
                        <a:rPr lang="en-US" sz="1800" dirty="0">
                          <a:effectLst/>
                        </a:rPr>
                        <a:t>10</a:t>
                      </a:r>
                      <a:endParaRPr lang="en-US" sz="18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l" rtl="0">
                        <a:lnSpc>
                          <a:spcPct val="107000"/>
                        </a:lnSpc>
                        <a:spcAft>
                          <a:spcPts val="800"/>
                        </a:spcAft>
                        <a:buNone/>
                      </a:pPr>
                      <a:r>
                        <a:rPr lang="en-US" sz="1800" dirty="0">
                          <a:effectLst/>
                        </a:rPr>
                        <a:t>column_round.sv</a:t>
                      </a:r>
                      <a:endParaRPr lang="en-US" sz="18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extLst>
                  <a:ext uri="{0D108BD9-81ED-4DB2-BD59-A6C34878D82A}">
                    <a16:rowId xmlns:a16="http://schemas.microsoft.com/office/drawing/2014/main" val="2805319546"/>
                  </a:ext>
                </a:extLst>
              </a:tr>
              <a:tr h="411009">
                <a:tc>
                  <a:txBody>
                    <a:bodyPr/>
                    <a:lstStyle/>
                    <a:p>
                      <a:pPr algn="ctr" rtl="0">
                        <a:lnSpc>
                          <a:spcPct val="107000"/>
                        </a:lnSpc>
                        <a:spcAft>
                          <a:spcPts val="800"/>
                        </a:spcAft>
                        <a:buNone/>
                      </a:pPr>
                      <a:r>
                        <a:rPr lang="en-US" sz="1800" dirty="0">
                          <a:effectLst/>
                        </a:rPr>
                        <a:t>10</a:t>
                      </a:r>
                      <a:endParaRPr lang="en-US" sz="18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tc>
                  <a:txBody>
                    <a:bodyPr/>
                    <a:lstStyle/>
                    <a:p>
                      <a:pPr algn="l" rtl="0">
                        <a:lnSpc>
                          <a:spcPct val="107000"/>
                        </a:lnSpc>
                        <a:spcAft>
                          <a:spcPts val="800"/>
                        </a:spcAft>
                        <a:buNone/>
                      </a:pPr>
                      <a:r>
                        <a:rPr lang="en-US" sz="1800" dirty="0">
                          <a:effectLst/>
                        </a:rPr>
                        <a:t>double_round.sv</a:t>
                      </a:r>
                      <a:endParaRPr lang="en-US" sz="1800" dirty="0">
                        <a:effectLst/>
                        <a:latin typeface="Calibri" panose="020F0502020204030204" pitchFamily="34" charset="0"/>
                        <a:ea typeface="Calibri" panose="020F0502020204030204" pitchFamily="34" charset="0"/>
                        <a:cs typeface="David" panose="020E0502060401010101" pitchFamily="34" charset="-79"/>
                      </a:endParaRPr>
                    </a:p>
                  </a:txBody>
                  <a:tcPr marL="68580" marR="68580" marT="0" marB="0"/>
                </a:tc>
                <a:extLst>
                  <a:ext uri="{0D108BD9-81ED-4DB2-BD59-A6C34878D82A}">
                    <a16:rowId xmlns:a16="http://schemas.microsoft.com/office/drawing/2014/main" val="4291265603"/>
                  </a:ext>
                </a:extLst>
              </a:tr>
            </a:tbl>
          </a:graphicData>
        </a:graphic>
      </p:graphicFrame>
    </p:spTree>
    <p:extLst>
      <p:ext uri="{BB962C8B-B14F-4D97-AF65-F5344CB8AC3E}">
        <p14:creationId xmlns:p14="http://schemas.microsoft.com/office/powerpoint/2010/main" val="695477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B454C-24DB-EC3F-EAA0-881A5F2C1610}"/>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A6398EA0-83C0-670C-C9CA-2712E52FDF53}"/>
              </a:ext>
            </a:extLst>
          </p:cNvPr>
          <p:cNvSpPr txBox="1"/>
          <p:nvPr/>
        </p:nvSpPr>
        <p:spPr>
          <a:xfrm>
            <a:off x="7051249" y="595823"/>
            <a:ext cx="4635631" cy="646331"/>
          </a:xfrm>
          <a:prstGeom prst="rect">
            <a:avLst/>
          </a:prstGeom>
          <a:noFill/>
        </p:spPr>
        <p:txBody>
          <a:bodyPr wrap="square" rtlCol="1">
            <a:spAutoFit/>
          </a:bodyPr>
          <a:lstStyle/>
          <a:p>
            <a:r>
              <a:rPr lang="he-IL" sz="3600" dirty="0"/>
              <a:t>שיטת התכנון - </a:t>
            </a:r>
            <a:r>
              <a:rPr lang="en-US" sz="3600" dirty="0"/>
              <a:t>Interative</a:t>
            </a:r>
            <a:endParaRPr lang="he-IL" sz="3600" dirty="0"/>
          </a:p>
        </p:txBody>
      </p:sp>
      <p:pic>
        <p:nvPicPr>
          <p:cNvPr id="4" name="תמונה 3" descr="‪salsa block diagram.drawio - draw.io‬">
            <a:extLst>
              <a:ext uri="{FF2B5EF4-FFF2-40B4-BE49-F238E27FC236}">
                <a16:creationId xmlns:a16="http://schemas.microsoft.com/office/drawing/2014/main" id="{62385DB8-8700-F308-4CC3-20D45C77E103}"/>
              </a:ext>
            </a:extLst>
          </p:cNvPr>
          <p:cNvPicPr>
            <a:picLocks noChangeAspect="1"/>
          </p:cNvPicPr>
          <p:nvPr/>
        </p:nvPicPr>
        <p:blipFill rotWithShape="1">
          <a:blip r:embed="rId2">
            <a:extLst>
              <a:ext uri="{28A0092B-C50C-407E-A947-70E740481C1C}">
                <a14:useLocalDpi xmlns:a14="http://schemas.microsoft.com/office/drawing/2010/main" val="0"/>
              </a:ext>
            </a:extLst>
          </a:blip>
          <a:srcRect l="18519" t="32747" r="24341" b="15927"/>
          <a:stretch>
            <a:fillRect/>
          </a:stretch>
        </p:blipFill>
        <p:spPr bwMode="auto">
          <a:xfrm>
            <a:off x="409139" y="408514"/>
            <a:ext cx="6437229" cy="3107684"/>
          </a:xfrm>
          <a:prstGeom prst="rect">
            <a:avLst/>
          </a:prstGeom>
          <a:ln>
            <a:solidFill>
              <a:schemeClr val="tx1"/>
            </a:solidFill>
          </a:ln>
          <a:extLst>
            <a:ext uri="{53640926-AAD7-44D8-BBD7-CCE9431645EC}">
              <a14:shadowObscured xmlns:a14="http://schemas.microsoft.com/office/drawing/2010/main"/>
            </a:ext>
          </a:extLst>
        </p:spPr>
      </p:pic>
      <p:sp>
        <p:nvSpPr>
          <p:cNvPr id="6" name="תיבת טקסט 5">
            <a:extLst>
              <a:ext uri="{FF2B5EF4-FFF2-40B4-BE49-F238E27FC236}">
                <a16:creationId xmlns:a16="http://schemas.microsoft.com/office/drawing/2014/main" id="{88B1D2A9-84C5-991A-4882-2E3B606A7738}"/>
              </a:ext>
            </a:extLst>
          </p:cNvPr>
          <p:cNvSpPr txBox="1"/>
          <p:nvPr/>
        </p:nvSpPr>
        <p:spPr>
          <a:xfrm>
            <a:off x="8267307" y="1242154"/>
            <a:ext cx="3419573" cy="3139321"/>
          </a:xfrm>
          <a:prstGeom prst="rect">
            <a:avLst/>
          </a:prstGeom>
          <a:noFill/>
        </p:spPr>
        <p:txBody>
          <a:bodyPr wrap="square">
            <a:spAutoFit/>
          </a:bodyPr>
          <a:lstStyle/>
          <a:p>
            <a:pPr marL="285750" indent="-285750">
              <a:buFont typeface="Arial" panose="020B0604020202020204" pitchFamily="34" charset="0"/>
              <a:buChar char="•"/>
            </a:pPr>
            <a:r>
              <a:rPr lang="en-US" sz="1800" b="1" dirty="0">
                <a:effectLst/>
                <a:ea typeface="Calibri" panose="020F0502020204030204" pitchFamily="34" charset="0"/>
                <a:cs typeface="David" panose="020E0502060401010101" pitchFamily="34" charset="-79"/>
              </a:rPr>
              <a:t>D_R_C_FSM</a:t>
            </a:r>
            <a:endParaRPr lang="he-IL" sz="1800" b="1" dirty="0">
              <a:effectLst/>
              <a:ea typeface="Calibri" panose="020F0502020204030204" pitchFamily="34" charset="0"/>
              <a:cs typeface="David" panose="020E0502060401010101" pitchFamily="34" charset="-79"/>
            </a:endParaRPr>
          </a:p>
          <a:p>
            <a:r>
              <a:rPr lang="he-IL" dirty="0">
                <a:ea typeface="Calibri" panose="020F0502020204030204" pitchFamily="34" charset="0"/>
                <a:cs typeface="David" panose="020E0502060401010101" pitchFamily="34" charset="-79"/>
              </a:rPr>
              <a:t>מחליפה את</a:t>
            </a:r>
            <a:r>
              <a:rPr lang="he-IL" sz="1800" dirty="0">
                <a:effectLst/>
                <a:ea typeface="Calibri" panose="020F0502020204030204" pitchFamily="34" charset="0"/>
                <a:cs typeface="David" panose="020E0502060401010101" pitchFamily="34" charset="-79"/>
              </a:rPr>
              <a:t> </a:t>
            </a:r>
            <a:r>
              <a:rPr lang="en-US" sz="1800" dirty="0">
                <a:effectLst/>
                <a:latin typeface="David" panose="020E0502060401010101" pitchFamily="34" charset="-79"/>
                <a:ea typeface="Calibri" panose="020F0502020204030204" pitchFamily="34" charset="0"/>
              </a:rPr>
              <a:t>column_round</a:t>
            </a:r>
            <a:r>
              <a:rPr lang="he-IL" sz="1800" dirty="0">
                <a:effectLst/>
                <a:latin typeface="David" panose="020E0502060401010101" pitchFamily="34" charset="-79"/>
                <a:ea typeface="Calibri" panose="020F0502020204030204" pitchFamily="34" charset="0"/>
              </a:rPr>
              <a:t>, </a:t>
            </a:r>
            <a:r>
              <a:rPr lang="en-US" sz="1800" dirty="0">
                <a:effectLst/>
                <a:latin typeface="David" panose="020E0502060401010101" pitchFamily="34" charset="-79"/>
                <a:ea typeface="Calibri" panose="020F0502020204030204" pitchFamily="34" charset="0"/>
              </a:rPr>
              <a:t>row_round</a:t>
            </a:r>
            <a:r>
              <a:rPr lang="he-IL" sz="1800" dirty="0">
                <a:effectLst/>
                <a:latin typeface="David" panose="020E0502060401010101" pitchFamily="34" charset="-79"/>
                <a:ea typeface="Calibri" panose="020F0502020204030204" pitchFamily="34" charset="0"/>
              </a:rPr>
              <a:t> ו- </a:t>
            </a:r>
            <a:r>
              <a:rPr lang="en-US" sz="1800" dirty="0">
                <a:effectLst/>
                <a:latin typeface="David" panose="020E0502060401010101" pitchFamily="34" charset="-79"/>
                <a:ea typeface="Calibri" panose="020F0502020204030204" pitchFamily="34" charset="0"/>
              </a:rPr>
              <a:t>double_round</a:t>
            </a:r>
            <a:r>
              <a:rPr lang="he-IL" sz="1800" dirty="0">
                <a:effectLst/>
                <a:latin typeface="David" panose="020E0502060401010101" pitchFamily="34" charset="-79"/>
                <a:ea typeface="Calibri" panose="020F0502020204030204" pitchFamily="34" charset="0"/>
              </a:rPr>
              <a:t> ומניעה את האינסטנס היחיד של </a:t>
            </a:r>
            <a:r>
              <a:rPr lang="en-US" sz="1800" dirty="0">
                <a:effectLst/>
                <a:latin typeface="David" panose="020E0502060401010101" pitchFamily="34" charset="-79"/>
                <a:ea typeface="Calibri" panose="020F0502020204030204" pitchFamily="34" charset="0"/>
              </a:rPr>
              <a:t>quarter_round</a:t>
            </a:r>
            <a:r>
              <a:rPr lang="he-IL" sz="1800" dirty="0">
                <a:effectLst/>
                <a:latin typeface="David" panose="020E0502060401010101" pitchFamily="34" charset="-79"/>
                <a:ea typeface="Calibri" panose="020F0502020204030204" pitchFamily="34" charset="0"/>
              </a:rPr>
              <a:t> שמונה פעמים (ארבע שורות וארבע עמודות).</a:t>
            </a:r>
            <a:br>
              <a:rPr lang="en-US" sz="1800" dirty="0">
                <a:effectLst/>
                <a:latin typeface="David" panose="020E0502060401010101" pitchFamily="34" charset="-79"/>
                <a:ea typeface="Calibri" panose="020F0502020204030204" pitchFamily="34" charset="0"/>
              </a:rPr>
            </a:br>
            <a:endParaRPr lang="he-IL" sz="1800" dirty="0">
              <a:effectLst/>
              <a:latin typeface="David" panose="020E0502060401010101" pitchFamily="34" charset="-79"/>
              <a:ea typeface="Calibri" panose="020F0502020204030204" pitchFamily="34" charset="0"/>
            </a:endParaRPr>
          </a:p>
          <a:p>
            <a:pPr marL="285750" indent="-285750">
              <a:buFont typeface="Arial" panose="020B0604020202020204" pitchFamily="34" charset="0"/>
              <a:buChar char="•"/>
            </a:pPr>
            <a:r>
              <a:rPr lang="en-US" b="1" dirty="0">
                <a:latin typeface="David" panose="020E0502060401010101" pitchFamily="34" charset="-79"/>
                <a:ea typeface="Calibri" panose="020F0502020204030204" pitchFamily="34" charset="0"/>
              </a:rPr>
              <a:t>Hash_Inerative_FSM</a:t>
            </a:r>
          </a:p>
          <a:p>
            <a:r>
              <a:rPr lang="he-IL" dirty="0">
                <a:latin typeface="David" panose="020E0502060401010101" pitchFamily="34" charset="-79"/>
                <a:ea typeface="Calibri" panose="020F0502020204030204" pitchFamily="34" charset="0"/>
              </a:rPr>
              <a:t>מפעילה את </a:t>
            </a:r>
            <a:r>
              <a:rPr lang="en-US" dirty="0">
                <a:latin typeface="David" panose="020E0502060401010101" pitchFamily="34" charset="-79"/>
                <a:ea typeface="Calibri" panose="020F0502020204030204" pitchFamily="34" charset="0"/>
              </a:rPr>
              <a:t>d_r_c_fsm </a:t>
            </a:r>
            <a:r>
              <a:rPr lang="he-IL" dirty="0">
                <a:latin typeface="David" panose="020E0502060401010101" pitchFamily="34" charset="-79"/>
                <a:ea typeface="Calibri" panose="020F0502020204030204" pitchFamily="34" charset="0"/>
              </a:rPr>
              <a:t>מספר פעמים לפי ערך ה- </a:t>
            </a:r>
            <a:r>
              <a:rPr lang="en-US" dirty="0">
                <a:latin typeface="David" panose="020E0502060401010101" pitchFamily="34" charset="-79"/>
                <a:ea typeface="Calibri" panose="020F0502020204030204" pitchFamily="34" charset="0"/>
              </a:rPr>
              <a:t>select</a:t>
            </a:r>
            <a:r>
              <a:rPr lang="he-IL" dirty="0">
                <a:latin typeface="David" panose="020E0502060401010101" pitchFamily="34" charset="-79"/>
                <a:ea typeface="Calibri" panose="020F0502020204030204" pitchFamily="34" charset="0"/>
              </a:rPr>
              <a:t>.</a:t>
            </a:r>
          </a:p>
          <a:p>
            <a:endParaRPr lang="he-IL" dirty="0"/>
          </a:p>
        </p:txBody>
      </p:sp>
      <p:pic>
        <p:nvPicPr>
          <p:cNvPr id="7" name="תמונה 6" descr="‪salsa block diagram.drawio - draw.io‬">
            <a:extLst>
              <a:ext uri="{FF2B5EF4-FFF2-40B4-BE49-F238E27FC236}">
                <a16:creationId xmlns:a16="http://schemas.microsoft.com/office/drawing/2014/main" id="{3A5FBFB7-A2DF-73FB-914B-57FB850539B0}"/>
              </a:ext>
            </a:extLst>
          </p:cNvPr>
          <p:cNvPicPr>
            <a:picLocks noChangeAspect="1"/>
          </p:cNvPicPr>
          <p:nvPr/>
        </p:nvPicPr>
        <p:blipFill rotWithShape="1">
          <a:blip r:embed="rId3">
            <a:extLst>
              <a:ext uri="{28A0092B-C50C-407E-A947-70E740481C1C}">
                <a14:useLocalDpi xmlns:a14="http://schemas.microsoft.com/office/drawing/2010/main" val="0"/>
              </a:ext>
            </a:extLst>
          </a:blip>
          <a:srcRect l="24843" t="26722" r="26497" b="19590"/>
          <a:stretch>
            <a:fillRect/>
          </a:stretch>
        </p:blipFill>
        <p:spPr bwMode="auto">
          <a:xfrm>
            <a:off x="409138" y="3735296"/>
            <a:ext cx="4576789" cy="2714190"/>
          </a:xfrm>
          <a:prstGeom prst="rect">
            <a:avLst/>
          </a:prstGeom>
          <a:ln>
            <a:noFill/>
          </a:ln>
          <a:extLst>
            <a:ext uri="{53640926-AAD7-44D8-BBD7-CCE9431645EC}">
              <a14:shadowObscured xmlns:a14="http://schemas.microsoft.com/office/drawing/2010/main"/>
            </a:ext>
          </a:extLst>
        </p:spPr>
      </p:pic>
      <p:pic>
        <p:nvPicPr>
          <p:cNvPr id="8" name="תמונה 7" descr="‪salsa block diagram.drawio - draw.io‬">
            <a:extLst>
              <a:ext uri="{FF2B5EF4-FFF2-40B4-BE49-F238E27FC236}">
                <a16:creationId xmlns:a16="http://schemas.microsoft.com/office/drawing/2014/main" id="{AB045ECF-0813-81D4-CB85-32D9B338217D}"/>
              </a:ext>
            </a:extLst>
          </p:cNvPr>
          <p:cNvPicPr>
            <a:picLocks noChangeAspect="1"/>
          </p:cNvPicPr>
          <p:nvPr/>
        </p:nvPicPr>
        <p:blipFill rotWithShape="1">
          <a:blip r:embed="rId4">
            <a:extLst>
              <a:ext uri="{28A0092B-C50C-407E-A947-70E740481C1C}">
                <a14:useLocalDpi xmlns:a14="http://schemas.microsoft.com/office/drawing/2010/main" val="0"/>
              </a:ext>
            </a:extLst>
          </a:blip>
          <a:srcRect l="30405" t="19981" r="28050" b="23682"/>
          <a:stretch>
            <a:fillRect/>
          </a:stretch>
        </p:blipFill>
        <p:spPr bwMode="auto">
          <a:xfrm>
            <a:off x="5647076" y="3847157"/>
            <a:ext cx="3606585" cy="262808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31769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F6306-CFCE-1986-FAF6-906902EBF507}"/>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19379518-E857-6FBF-D146-C5B977924187}"/>
              </a:ext>
            </a:extLst>
          </p:cNvPr>
          <p:cNvSpPr txBox="1"/>
          <p:nvPr/>
        </p:nvSpPr>
        <p:spPr>
          <a:xfrm>
            <a:off x="1847654" y="688157"/>
            <a:ext cx="9257120"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600" dirty="0"/>
              <a:t>השוואות ביצועים בין השיטות </a:t>
            </a:r>
            <a:r>
              <a:rPr lang="he-IL" b="1" dirty="0"/>
              <a:t>(</a:t>
            </a:r>
            <a:r>
              <a:rPr kumimoji="0" lang="he-IL" b="1" i="0" u="none" strike="noStrike" kern="1200" cap="none" spc="0" normalizeH="0" baseline="0" noProof="0" dirty="0">
                <a:ln>
                  <a:noFill/>
                </a:ln>
                <a:solidFill>
                  <a:prstClr val="black"/>
                </a:solidFill>
                <a:effectLst/>
                <a:uLnTx/>
                <a:uFillTx/>
                <a:latin typeface="David"/>
                <a:ea typeface="Calibri" panose="020F0502020204030204" pitchFamily="34" charset="0"/>
                <a:cs typeface="David" panose="020E0502060401010101" pitchFamily="34" charset="-79"/>
              </a:rPr>
              <a:t>אין להתייחס למספר ה- </a:t>
            </a:r>
            <a:r>
              <a:rPr kumimoji="0" lang="en-US" b="1" i="0" u="none" strike="noStrike" kern="1200" cap="none" spc="0" normalizeH="0" baseline="0" noProof="0" dirty="0">
                <a:ln>
                  <a:noFill/>
                </a:ln>
                <a:solidFill>
                  <a:prstClr val="black"/>
                </a:solidFill>
                <a:effectLst/>
                <a:uLnTx/>
                <a:uFillTx/>
                <a:latin typeface="David" panose="020E0502060401010101" pitchFamily="34" charset="-79"/>
                <a:ea typeface="Calibri" panose="020F0502020204030204" pitchFamily="34" charset="0"/>
                <a:cs typeface="David"/>
              </a:rPr>
              <a:t>I/Os</a:t>
            </a:r>
            <a:r>
              <a:rPr kumimoji="0" lang="he-IL" b="1" i="0" u="none" strike="noStrike" kern="1200" cap="none" spc="0" normalizeH="0" baseline="0" noProof="0" dirty="0">
                <a:ln>
                  <a:noFill/>
                </a:ln>
                <a:solidFill>
                  <a:prstClr val="black"/>
                </a:solidFill>
                <a:effectLst/>
                <a:uLnTx/>
                <a:uFillTx/>
                <a:latin typeface="David" panose="020E0502060401010101" pitchFamily="34" charset="-79"/>
                <a:ea typeface="Calibri" panose="020F0502020204030204" pitchFamily="34" charset="0"/>
                <a:cs typeface="David"/>
              </a:rPr>
              <a:t> המוצגים) </a:t>
            </a:r>
            <a:endParaRPr kumimoji="0" lang="he-IL" b="1" i="0" u="none" strike="noStrike" kern="1200" cap="none" spc="0" normalizeH="0" baseline="0" noProof="0" dirty="0">
              <a:ln>
                <a:noFill/>
              </a:ln>
              <a:solidFill>
                <a:prstClr val="black"/>
              </a:solidFill>
              <a:effectLst/>
              <a:uLnTx/>
              <a:uFillTx/>
              <a:latin typeface="David"/>
              <a:ea typeface="+mn-ea"/>
              <a:cs typeface="David"/>
            </a:endParaRPr>
          </a:p>
        </p:txBody>
      </p:sp>
      <p:pic>
        <p:nvPicPr>
          <p:cNvPr id="5" name="תמונה 4">
            <a:extLst>
              <a:ext uri="{FF2B5EF4-FFF2-40B4-BE49-F238E27FC236}">
                <a16:creationId xmlns:a16="http://schemas.microsoft.com/office/drawing/2014/main" id="{D869DCD7-5425-31EA-992B-DD19CBC16463}"/>
              </a:ext>
            </a:extLst>
          </p:cNvPr>
          <p:cNvPicPr>
            <a:picLocks noChangeAspect="1"/>
          </p:cNvPicPr>
          <p:nvPr/>
        </p:nvPicPr>
        <p:blipFill>
          <a:blip r:embed="rId2"/>
          <a:stretch>
            <a:fillRect/>
          </a:stretch>
        </p:blipFill>
        <p:spPr>
          <a:xfrm>
            <a:off x="311019" y="2691284"/>
            <a:ext cx="5143664" cy="2399190"/>
          </a:xfrm>
          <a:prstGeom prst="rect">
            <a:avLst/>
          </a:prstGeom>
          <a:ln>
            <a:solidFill>
              <a:schemeClr val="tx1"/>
            </a:solidFill>
          </a:ln>
        </p:spPr>
      </p:pic>
      <p:pic>
        <p:nvPicPr>
          <p:cNvPr id="6" name="תמונה 5">
            <a:extLst>
              <a:ext uri="{FF2B5EF4-FFF2-40B4-BE49-F238E27FC236}">
                <a16:creationId xmlns:a16="http://schemas.microsoft.com/office/drawing/2014/main" id="{68335F2B-1710-153A-2887-94066AD6E178}"/>
              </a:ext>
            </a:extLst>
          </p:cNvPr>
          <p:cNvPicPr>
            <a:picLocks noChangeAspect="1"/>
          </p:cNvPicPr>
          <p:nvPr/>
        </p:nvPicPr>
        <p:blipFill>
          <a:blip r:embed="rId3"/>
          <a:stretch>
            <a:fillRect/>
          </a:stretch>
        </p:blipFill>
        <p:spPr>
          <a:xfrm>
            <a:off x="5840690" y="2359186"/>
            <a:ext cx="5264084" cy="3287469"/>
          </a:xfrm>
          <a:prstGeom prst="rect">
            <a:avLst/>
          </a:prstGeom>
          <a:ln>
            <a:solidFill>
              <a:schemeClr val="tx1"/>
            </a:solidFill>
          </a:ln>
        </p:spPr>
      </p:pic>
      <p:sp>
        <p:nvSpPr>
          <p:cNvPr id="8" name="תיבת טקסט 7">
            <a:extLst>
              <a:ext uri="{FF2B5EF4-FFF2-40B4-BE49-F238E27FC236}">
                <a16:creationId xmlns:a16="http://schemas.microsoft.com/office/drawing/2014/main" id="{91E1618C-F2CA-1A16-FA9D-F4DDD9994C32}"/>
              </a:ext>
            </a:extLst>
          </p:cNvPr>
          <p:cNvSpPr txBox="1"/>
          <p:nvPr/>
        </p:nvSpPr>
        <p:spPr>
          <a:xfrm>
            <a:off x="1087226" y="2247449"/>
            <a:ext cx="3551548" cy="369332"/>
          </a:xfrm>
          <a:prstGeom prst="rect">
            <a:avLst/>
          </a:prstGeom>
          <a:noFill/>
        </p:spPr>
        <p:txBody>
          <a:bodyPr wrap="square">
            <a:spAutoFit/>
          </a:bodyPr>
          <a:lstStyle/>
          <a:p>
            <a:r>
              <a:rPr lang="en-US" sz="1800" b="1" dirty="0">
                <a:effectLst/>
                <a:latin typeface="David" panose="020E0502060401010101" pitchFamily="34" charset="-79"/>
                <a:ea typeface="Calibri" panose="020F0502020204030204" pitchFamily="34" charset="0"/>
              </a:rPr>
              <a:t>Utilization report Unrolling hash</a:t>
            </a:r>
            <a:endParaRPr lang="he-IL" b="1" dirty="0"/>
          </a:p>
        </p:txBody>
      </p:sp>
      <p:sp>
        <p:nvSpPr>
          <p:cNvPr id="10" name="תיבת טקסט 9">
            <a:extLst>
              <a:ext uri="{FF2B5EF4-FFF2-40B4-BE49-F238E27FC236}">
                <a16:creationId xmlns:a16="http://schemas.microsoft.com/office/drawing/2014/main" id="{44C14FB9-5ACF-7809-85C5-DD3600C88CCA}"/>
              </a:ext>
            </a:extLst>
          </p:cNvPr>
          <p:cNvSpPr txBox="1"/>
          <p:nvPr/>
        </p:nvSpPr>
        <p:spPr>
          <a:xfrm>
            <a:off x="6741146" y="1989854"/>
            <a:ext cx="3463172" cy="369332"/>
          </a:xfrm>
          <a:prstGeom prst="rect">
            <a:avLst/>
          </a:prstGeom>
          <a:noFill/>
        </p:spPr>
        <p:txBody>
          <a:bodyPr wrap="square">
            <a:spAutoFit/>
          </a:bodyPr>
          <a:lstStyle/>
          <a:p>
            <a:r>
              <a:rPr lang="en-US" sz="1800" b="1" dirty="0">
                <a:effectLst/>
                <a:latin typeface="David" panose="020E0502060401010101" pitchFamily="34" charset="-79"/>
                <a:ea typeface="Calibri" panose="020F0502020204030204" pitchFamily="34" charset="0"/>
              </a:rPr>
              <a:t>Utilization report Interative hash</a:t>
            </a:r>
            <a:endParaRPr lang="he-IL" b="1" dirty="0"/>
          </a:p>
        </p:txBody>
      </p:sp>
    </p:spTree>
    <p:extLst>
      <p:ext uri="{BB962C8B-B14F-4D97-AF65-F5344CB8AC3E}">
        <p14:creationId xmlns:p14="http://schemas.microsoft.com/office/powerpoint/2010/main" val="3575930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5CDB4-3F35-F274-5E9F-DD175DC6B39C}"/>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427021BA-6970-B89F-66B7-EBB1B871F19B}"/>
              </a:ext>
            </a:extLst>
          </p:cNvPr>
          <p:cNvSpPr txBox="1"/>
          <p:nvPr/>
        </p:nvSpPr>
        <p:spPr>
          <a:xfrm>
            <a:off x="1847654" y="688157"/>
            <a:ext cx="9257120"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3600" dirty="0"/>
              <a:t>Worst Negative Slack (WNS)</a:t>
            </a:r>
            <a:endParaRPr kumimoji="0" lang="he-IL" b="1" i="0" u="none" strike="noStrike" kern="1200" cap="none" spc="0" normalizeH="0" baseline="0" noProof="0" dirty="0">
              <a:ln>
                <a:noFill/>
              </a:ln>
              <a:solidFill>
                <a:prstClr val="black"/>
              </a:solidFill>
              <a:effectLst/>
              <a:uLnTx/>
              <a:uFillTx/>
              <a:latin typeface="David"/>
              <a:ea typeface="+mn-ea"/>
              <a:cs typeface="David"/>
            </a:endParaRPr>
          </a:p>
        </p:txBody>
      </p:sp>
      <p:pic>
        <p:nvPicPr>
          <p:cNvPr id="3" name="תמונה 2">
            <a:extLst>
              <a:ext uri="{FF2B5EF4-FFF2-40B4-BE49-F238E27FC236}">
                <a16:creationId xmlns:a16="http://schemas.microsoft.com/office/drawing/2014/main" id="{608D9AE8-B2EF-32E7-6A09-E651BC6FD84E}"/>
              </a:ext>
            </a:extLst>
          </p:cNvPr>
          <p:cNvPicPr>
            <a:picLocks noChangeAspect="1"/>
          </p:cNvPicPr>
          <p:nvPr/>
        </p:nvPicPr>
        <p:blipFill>
          <a:blip r:embed="rId2"/>
          <a:srcRect l="48823" t="33385" r="1071" b="40173"/>
          <a:stretch>
            <a:fillRect/>
          </a:stretch>
        </p:blipFill>
        <p:spPr>
          <a:xfrm>
            <a:off x="537326" y="3978110"/>
            <a:ext cx="7987551" cy="1847653"/>
          </a:xfrm>
          <a:prstGeom prst="rect">
            <a:avLst/>
          </a:prstGeom>
          <a:ln>
            <a:solidFill>
              <a:schemeClr val="tx1"/>
            </a:solidFill>
          </a:ln>
        </p:spPr>
      </p:pic>
      <p:pic>
        <p:nvPicPr>
          <p:cNvPr id="4" name="תמונה 3">
            <a:extLst>
              <a:ext uri="{FF2B5EF4-FFF2-40B4-BE49-F238E27FC236}">
                <a16:creationId xmlns:a16="http://schemas.microsoft.com/office/drawing/2014/main" id="{7A2640B5-6591-9AFA-1584-9AAD6E4B3E4F}"/>
              </a:ext>
            </a:extLst>
          </p:cNvPr>
          <p:cNvPicPr>
            <a:picLocks noChangeAspect="1"/>
          </p:cNvPicPr>
          <p:nvPr/>
        </p:nvPicPr>
        <p:blipFill>
          <a:blip r:embed="rId2"/>
          <a:srcRect t="58165" r="51425"/>
          <a:stretch>
            <a:fillRect/>
          </a:stretch>
        </p:blipFill>
        <p:spPr>
          <a:xfrm>
            <a:off x="537326" y="1590907"/>
            <a:ext cx="5644374" cy="2130784"/>
          </a:xfrm>
          <a:prstGeom prst="rect">
            <a:avLst/>
          </a:prstGeom>
          <a:ln>
            <a:solidFill>
              <a:schemeClr val="tx1"/>
            </a:solidFill>
          </a:ln>
        </p:spPr>
      </p:pic>
    </p:spTree>
    <p:extLst>
      <p:ext uri="{BB962C8B-B14F-4D97-AF65-F5344CB8AC3E}">
        <p14:creationId xmlns:p14="http://schemas.microsoft.com/office/powerpoint/2010/main" val="3218859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5DE9-12B8-6524-212B-3059F9EAF417}"/>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E221F1B5-582D-73BC-ABE9-5ECDBF9D8514}"/>
              </a:ext>
            </a:extLst>
          </p:cNvPr>
          <p:cNvSpPr txBox="1"/>
          <p:nvPr/>
        </p:nvSpPr>
        <p:spPr>
          <a:xfrm>
            <a:off x="2834326" y="320511"/>
            <a:ext cx="6523347" cy="646331"/>
          </a:xfrm>
          <a:prstGeom prst="rect">
            <a:avLst/>
          </a:prstGeom>
          <a:noFill/>
        </p:spPr>
        <p:txBody>
          <a:bodyPr wrap="square" rtlCol="1">
            <a:spAutoFit/>
          </a:bodyPr>
          <a:lstStyle/>
          <a:p>
            <a:r>
              <a:rPr lang="en-US" sz="3600" dirty="0"/>
              <a:t>PLL IP </a:t>
            </a:r>
            <a:r>
              <a:rPr lang="en-US" b="1" dirty="0"/>
              <a:t>(Phase Locked Loop Intellectual Property)</a:t>
            </a:r>
            <a:endParaRPr lang="he-IL" b="1" dirty="0"/>
          </a:p>
        </p:txBody>
      </p:sp>
      <p:pic>
        <p:nvPicPr>
          <p:cNvPr id="4" name="תמונה 3">
            <a:extLst>
              <a:ext uri="{FF2B5EF4-FFF2-40B4-BE49-F238E27FC236}">
                <a16:creationId xmlns:a16="http://schemas.microsoft.com/office/drawing/2014/main" id="{CAFCECDF-AB1C-3CBD-AEC1-D4A4393ED3AC}"/>
              </a:ext>
            </a:extLst>
          </p:cNvPr>
          <p:cNvPicPr>
            <a:picLocks noChangeAspect="1"/>
          </p:cNvPicPr>
          <p:nvPr/>
        </p:nvPicPr>
        <p:blipFill>
          <a:blip r:embed="rId2"/>
          <a:stretch>
            <a:fillRect/>
          </a:stretch>
        </p:blipFill>
        <p:spPr>
          <a:xfrm>
            <a:off x="471412" y="1067631"/>
            <a:ext cx="4006320" cy="2693979"/>
          </a:xfrm>
          <a:prstGeom prst="rect">
            <a:avLst/>
          </a:prstGeom>
        </p:spPr>
      </p:pic>
      <p:pic>
        <p:nvPicPr>
          <p:cNvPr id="9" name="תמונה 8">
            <a:extLst>
              <a:ext uri="{FF2B5EF4-FFF2-40B4-BE49-F238E27FC236}">
                <a16:creationId xmlns:a16="http://schemas.microsoft.com/office/drawing/2014/main" id="{7CA8432E-804C-D1D0-5CE0-99514061D9AE}"/>
              </a:ext>
            </a:extLst>
          </p:cNvPr>
          <p:cNvPicPr>
            <a:picLocks noChangeAspect="1"/>
          </p:cNvPicPr>
          <p:nvPr/>
        </p:nvPicPr>
        <p:blipFill>
          <a:blip r:embed="rId3"/>
          <a:stretch>
            <a:fillRect/>
          </a:stretch>
        </p:blipFill>
        <p:spPr>
          <a:xfrm>
            <a:off x="1428046" y="3993796"/>
            <a:ext cx="8017612" cy="2276100"/>
          </a:xfrm>
          <a:prstGeom prst="rect">
            <a:avLst/>
          </a:prstGeom>
        </p:spPr>
      </p:pic>
    </p:spTree>
    <p:extLst>
      <p:ext uri="{BB962C8B-B14F-4D97-AF65-F5344CB8AC3E}">
        <p14:creationId xmlns:p14="http://schemas.microsoft.com/office/powerpoint/2010/main" val="25777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18C7B-68CA-5ECB-E16E-B5A42CB141FC}"/>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C758C401-3DBB-F81C-F88C-9BED2E442DE2}"/>
              </a:ext>
            </a:extLst>
          </p:cNvPr>
          <p:cNvSpPr txBox="1"/>
          <p:nvPr/>
        </p:nvSpPr>
        <p:spPr>
          <a:xfrm>
            <a:off x="7013542" y="688157"/>
            <a:ext cx="4091232" cy="646331"/>
          </a:xfrm>
          <a:prstGeom prst="rect">
            <a:avLst/>
          </a:prstGeom>
          <a:noFill/>
        </p:spPr>
        <p:txBody>
          <a:bodyPr wrap="square" rtlCol="1">
            <a:spAutoFit/>
          </a:bodyPr>
          <a:lstStyle/>
          <a:p>
            <a:r>
              <a:rPr lang="he-IL" sz="3600" dirty="0"/>
              <a:t>אינטגרציית המערכת</a:t>
            </a:r>
          </a:p>
        </p:txBody>
      </p:sp>
      <p:pic>
        <p:nvPicPr>
          <p:cNvPr id="9" name="תמונה 8">
            <a:extLst>
              <a:ext uri="{FF2B5EF4-FFF2-40B4-BE49-F238E27FC236}">
                <a16:creationId xmlns:a16="http://schemas.microsoft.com/office/drawing/2014/main" id="{5909809C-E8FF-8665-94FA-2B0D874AE7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226" y="1334488"/>
            <a:ext cx="8995134" cy="4906437"/>
          </a:xfrm>
          <a:prstGeom prst="rect">
            <a:avLst/>
          </a:prstGeom>
        </p:spPr>
      </p:pic>
    </p:spTree>
    <p:extLst>
      <p:ext uri="{BB962C8B-B14F-4D97-AF65-F5344CB8AC3E}">
        <p14:creationId xmlns:p14="http://schemas.microsoft.com/office/powerpoint/2010/main" val="3675910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44444-2DC4-EC44-7ED3-09D6F49C7015}"/>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A4E9F6F5-29CC-ED36-037B-B5564772B87F}"/>
              </a:ext>
            </a:extLst>
          </p:cNvPr>
          <p:cNvSpPr txBox="1"/>
          <p:nvPr/>
        </p:nvSpPr>
        <p:spPr>
          <a:xfrm>
            <a:off x="619028" y="443061"/>
            <a:ext cx="5476972" cy="646331"/>
          </a:xfrm>
          <a:prstGeom prst="rect">
            <a:avLst/>
          </a:prstGeom>
          <a:noFill/>
        </p:spPr>
        <p:txBody>
          <a:bodyPr wrap="square" rtlCol="1">
            <a:spAutoFit/>
          </a:bodyPr>
          <a:lstStyle/>
          <a:p>
            <a:pPr algn="l"/>
            <a:r>
              <a:rPr lang="en-US" sz="3600" dirty="0"/>
              <a:t>Basys3 - Implementation</a:t>
            </a:r>
            <a:endParaRPr lang="he-IL" sz="3600" dirty="0"/>
          </a:p>
        </p:txBody>
      </p:sp>
      <p:pic>
        <p:nvPicPr>
          <p:cNvPr id="3" name="תמונה 2">
            <a:extLst>
              <a:ext uri="{FF2B5EF4-FFF2-40B4-BE49-F238E27FC236}">
                <a16:creationId xmlns:a16="http://schemas.microsoft.com/office/drawing/2014/main" id="{5B3C6622-76AD-61A6-C9CB-8C9739E7295A}"/>
              </a:ext>
            </a:extLst>
          </p:cNvPr>
          <p:cNvPicPr>
            <a:picLocks noChangeAspect="1"/>
          </p:cNvPicPr>
          <p:nvPr/>
        </p:nvPicPr>
        <p:blipFill>
          <a:blip r:embed="rId2"/>
          <a:stretch>
            <a:fillRect/>
          </a:stretch>
        </p:blipFill>
        <p:spPr>
          <a:xfrm>
            <a:off x="863528" y="1474269"/>
            <a:ext cx="5239830" cy="4115826"/>
          </a:xfrm>
          <a:prstGeom prst="rect">
            <a:avLst/>
          </a:prstGeom>
          <a:ln>
            <a:solidFill>
              <a:schemeClr val="tx1"/>
            </a:solidFill>
          </a:ln>
        </p:spPr>
      </p:pic>
      <p:pic>
        <p:nvPicPr>
          <p:cNvPr id="4" name="תמונה 3">
            <a:extLst>
              <a:ext uri="{FF2B5EF4-FFF2-40B4-BE49-F238E27FC236}">
                <a16:creationId xmlns:a16="http://schemas.microsoft.com/office/drawing/2014/main" id="{7324E8F2-2B93-1491-3B5B-11BDF37D44F3}"/>
              </a:ext>
            </a:extLst>
          </p:cNvPr>
          <p:cNvPicPr>
            <a:picLocks noChangeAspect="1"/>
          </p:cNvPicPr>
          <p:nvPr/>
        </p:nvPicPr>
        <p:blipFill>
          <a:blip r:embed="rId3"/>
          <a:stretch>
            <a:fillRect/>
          </a:stretch>
        </p:blipFill>
        <p:spPr>
          <a:xfrm>
            <a:off x="7542310" y="1089392"/>
            <a:ext cx="3270234" cy="5135598"/>
          </a:xfrm>
          <a:prstGeom prst="rect">
            <a:avLst/>
          </a:prstGeom>
          <a:ln>
            <a:solidFill>
              <a:schemeClr val="tx1"/>
            </a:solidFill>
          </a:ln>
        </p:spPr>
      </p:pic>
    </p:spTree>
    <p:extLst>
      <p:ext uri="{BB962C8B-B14F-4D97-AF65-F5344CB8AC3E}">
        <p14:creationId xmlns:p14="http://schemas.microsoft.com/office/powerpoint/2010/main" val="2195798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0D85-5073-2B88-06D5-B06EFD5A74AA}"/>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F2C17982-9DD9-0563-76F4-BBDF48B02445}"/>
              </a:ext>
            </a:extLst>
          </p:cNvPr>
          <p:cNvSpPr txBox="1"/>
          <p:nvPr/>
        </p:nvSpPr>
        <p:spPr>
          <a:xfrm>
            <a:off x="619028" y="443061"/>
            <a:ext cx="5476972" cy="646331"/>
          </a:xfrm>
          <a:prstGeom prst="rect">
            <a:avLst/>
          </a:prstGeom>
          <a:noFill/>
        </p:spPr>
        <p:txBody>
          <a:bodyPr wrap="square" rtlCol="1">
            <a:spAutoFit/>
          </a:bodyPr>
          <a:lstStyle/>
          <a:p>
            <a:pPr algn="l"/>
            <a:r>
              <a:rPr lang="en-US" sz="3600" dirty="0"/>
              <a:t>Basys3 - Implementation</a:t>
            </a:r>
            <a:endParaRPr lang="he-IL" sz="3600" dirty="0"/>
          </a:p>
        </p:txBody>
      </p:sp>
      <p:pic>
        <p:nvPicPr>
          <p:cNvPr id="5" name="תמונה 4">
            <a:extLst>
              <a:ext uri="{FF2B5EF4-FFF2-40B4-BE49-F238E27FC236}">
                <a16:creationId xmlns:a16="http://schemas.microsoft.com/office/drawing/2014/main" id="{B563780C-ABEF-59A6-1F31-1411A27E2EED}"/>
              </a:ext>
            </a:extLst>
          </p:cNvPr>
          <p:cNvPicPr>
            <a:picLocks noChangeAspect="1"/>
          </p:cNvPicPr>
          <p:nvPr/>
        </p:nvPicPr>
        <p:blipFill>
          <a:blip r:embed="rId2"/>
          <a:srcRect t="63758"/>
          <a:stretch>
            <a:fillRect/>
          </a:stretch>
        </p:blipFill>
        <p:spPr>
          <a:xfrm>
            <a:off x="619028" y="1282046"/>
            <a:ext cx="10585202" cy="2060949"/>
          </a:xfrm>
          <a:prstGeom prst="rect">
            <a:avLst/>
          </a:prstGeom>
          <a:ln>
            <a:solidFill>
              <a:schemeClr val="tx1"/>
            </a:solidFill>
          </a:ln>
        </p:spPr>
      </p:pic>
      <p:pic>
        <p:nvPicPr>
          <p:cNvPr id="6" name="תמונה 5">
            <a:extLst>
              <a:ext uri="{FF2B5EF4-FFF2-40B4-BE49-F238E27FC236}">
                <a16:creationId xmlns:a16="http://schemas.microsoft.com/office/drawing/2014/main" id="{85173696-2BEB-77AF-F565-1B311A3A11F6}"/>
              </a:ext>
            </a:extLst>
          </p:cNvPr>
          <p:cNvPicPr>
            <a:picLocks noChangeAspect="1"/>
          </p:cNvPicPr>
          <p:nvPr/>
        </p:nvPicPr>
        <p:blipFill>
          <a:blip r:embed="rId3"/>
          <a:stretch>
            <a:fillRect/>
          </a:stretch>
        </p:blipFill>
        <p:spPr>
          <a:xfrm>
            <a:off x="619028" y="3725470"/>
            <a:ext cx="10585202" cy="2401763"/>
          </a:xfrm>
          <a:prstGeom prst="rect">
            <a:avLst/>
          </a:prstGeom>
          <a:ln>
            <a:solidFill>
              <a:schemeClr val="tx1"/>
            </a:solidFill>
          </a:ln>
        </p:spPr>
      </p:pic>
    </p:spTree>
    <p:extLst>
      <p:ext uri="{BB962C8B-B14F-4D97-AF65-F5344CB8AC3E}">
        <p14:creationId xmlns:p14="http://schemas.microsoft.com/office/powerpoint/2010/main" val="20691017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E7A87-6E08-7B29-D0F2-B9BF7FF542CD}"/>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5ED95161-CF1F-E877-B23B-0A9DF6F4DE4C}"/>
              </a:ext>
            </a:extLst>
          </p:cNvPr>
          <p:cNvSpPr txBox="1"/>
          <p:nvPr/>
        </p:nvSpPr>
        <p:spPr>
          <a:xfrm>
            <a:off x="619028" y="443061"/>
            <a:ext cx="5476972" cy="646331"/>
          </a:xfrm>
          <a:prstGeom prst="rect">
            <a:avLst/>
          </a:prstGeom>
          <a:noFill/>
        </p:spPr>
        <p:txBody>
          <a:bodyPr wrap="square" rtlCol="1">
            <a:spAutoFit/>
          </a:bodyPr>
          <a:lstStyle/>
          <a:p>
            <a:pPr algn="l"/>
            <a:r>
              <a:rPr lang="en-US" sz="3600" dirty="0"/>
              <a:t>Basys3 – Implementation </a:t>
            </a:r>
            <a:endParaRPr lang="he-IL" sz="3600" dirty="0"/>
          </a:p>
        </p:txBody>
      </p:sp>
      <p:pic>
        <p:nvPicPr>
          <p:cNvPr id="3" name="תמונה 2">
            <a:extLst>
              <a:ext uri="{FF2B5EF4-FFF2-40B4-BE49-F238E27FC236}">
                <a16:creationId xmlns:a16="http://schemas.microsoft.com/office/drawing/2014/main" id="{751F9F6B-9C30-065A-0300-FF32592185F7}"/>
              </a:ext>
            </a:extLst>
          </p:cNvPr>
          <p:cNvPicPr>
            <a:picLocks noChangeAspect="1"/>
          </p:cNvPicPr>
          <p:nvPr/>
        </p:nvPicPr>
        <p:blipFill>
          <a:blip r:embed="rId2"/>
          <a:stretch>
            <a:fillRect/>
          </a:stretch>
        </p:blipFill>
        <p:spPr>
          <a:xfrm>
            <a:off x="619028" y="1263193"/>
            <a:ext cx="7795115" cy="1225484"/>
          </a:xfrm>
          <a:prstGeom prst="rect">
            <a:avLst/>
          </a:prstGeom>
          <a:ln>
            <a:solidFill>
              <a:schemeClr val="tx1"/>
            </a:solidFill>
          </a:ln>
        </p:spPr>
      </p:pic>
      <p:pic>
        <p:nvPicPr>
          <p:cNvPr id="4" name="תמונה 3" descr="C:\Users\HP\Desktop\Degree\Nisan_final_project\scripts\python_scripts\pyserial_scripts\encrypt_output\‏‏encrypt_decoded_output_harry2.txt - Notepad++">
            <a:extLst>
              <a:ext uri="{FF2B5EF4-FFF2-40B4-BE49-F238E27FC236}">
                <a16:creationId xmlns:a16="http://schemas.microsoft.com/office/drawing/2014/main" id="{A91F23D6-8AF0-24B3-3B35-85A5018420C4}"/>
              </a:ext>
            </a:extLst>
          </p:cNvPr>
          <p:cNvPicPr>
            <a:picLocks noChangeAspect="1"/>
          </p:cNvPicPr>
          <p:nvPr/>
        </p:nvPicPr>
        <p:blipFill rotWithShape="1">
          <a:blip r:embed="rId3">
            <a:extLst>
              <a:ext uri="{28A0092B-C50C-407E-A947-70E740481C1C}">
                <a14:useLocalDpi xmlns:a14="http://schemas.microsoft.com/office/drawing/2010/main" val="0"/>
              </a:ext>
            </a:extLst>
          </a:blip>
          <a:srcRect l="16068" t="8654" r="36283" b="55672"/>
          <a:stretch>
            <a:fillRect/>
          </a:stretch>
        </p:blipFill>
        <p:spPr bwMode="auto">
          <a:xfrm>
            <a:off x="619027" y="2679569"/>
            <a:ext cx="5706358" cy="2296000"/>
          </a:xfrm>
          <a:prstGeom prst="rect">
            <a:avLst/>
          </a:prstGeom>
          <a:ln>
            <a:solidFill>
              <a:schemeClr val="tx1"/>
            </a:solidFill>
          </a:ln>
          <a:extLst>
            <a:ext uri="{53640926-AAD7-44D8-BBD7-CCE9431645EC}">
              <a14:shadowObscured xmlns:a14="http://schemas.microsoft.com/office/drawing/2010/main"/>
            </a:ext>
          </a:extLst>
        </p:spPr>
      </p:pic>
      <p:pic>
        <p:nvPicPr>
          <p:cNvPr id="7" name="תמונה 6" descr="C:\Users\HP\Desktop\Degree\Nisan_final_project\scripts\python_scripts\pyserial_scripts\decrypt_output\‏‏decoded_output_harry2.txt - Notepad++">
            <a:extLst>
              <a:ext uri="{FF2B5EF4-FFF2-40B4-BE49-F238E27FC236}">
                <a16:creationId xmlns:a16="http://schemas.microsoft.com/office/drawing/2014/main" id="{1A368D34-1AE8-B749-0A04-8433C92E7240}"/>
              </a:ext>
            </a:extLst>
          </p:cNvPr>
          <p:cNvPicPr>
            <a:picLocks noChangeAspect="1"/>
          </p:cNvPicPr>
          <p:nvPr/>
        </p:nvPicPr>
        <p:blipFill rotWithShape="1">
          <a:blip r:embed="rId4">
            <a:extLst>
              <a:ext uri="{28A0092B-C50C-407E-A947-70E740481C1C}">
                <a14:useLocalDpi xmlns:a14="http://schemas.microsoft.com/office/drawing/2010/main" val="0"/>
              </a:ext>
            </a:extLst>
          </a:blip>
          <a:srcRect l="16914" t="8917" r="13440" b="68523"/>
          <a:stretch>
            <a:fillRect/>
          </a:stretch>
        </p:blipFill>
        <p:spPr bwMode="auto">
          <a:xfrm>
            <a:off x="619027" y="5149211"/>
            <a:ext cx="7271793" cy="1265728"/>
          </a:xfrm>
          <a:prstGeom prst="rect">
            <a:avLst/>
          </a:prstGeom>
          <a:ln>
            <a:solidFill>
              <a:schemeClr val="tx1"/>
            </a:solidFill>
          </a:ln>
          <a:extLst>
            <a:ext uri="{53640926-AAD7-44D8-BBD7-CCE9431645EC}">
              <a14:shadowObscured xmlns:a14="http://schemas.microsoft.com/office/drawing/2010/main"/>
            </a:ext>
          </a:extLst>
        </p:spPr>
      </p:pic>
      <p:pic>
        <p:nvPicPr>
          <p:cNvPr id="8" name="תמונה 7">
            <a:extLst>
              <a:ext uri="{FF2B5EF4-FFF2-40B4-BE49-F238E27FC236}">
                <a16:creationId xmlns:a16="http://schemas.microsoft.com/office/drawing/2014/main" id="{40FDB6C4-7B80-33D7-F9C1-D1C009011994}"/>
              </a:ext>
            </a:extLst>
          </p:cNvPr>
          <p:cNvPicPr>
            <a:picLocks noChangeAspect="1"/>
          </p:cNvPicPr>
          <p:nvPr/>
        </p:nvPicPr>
        <p:blipFill>
          <a:blip r:embed="rId5"/>
          <a:stretch>
            <a:fillRect/>
          </a:stretch>
        </p:blipFill>
        <p:spPr>
          <a:xfrm>
            <a:off x="6889368" y="2653645"/>
            <a:ext cx="4778779" cy="2941162"/>
          </a:xfrm>
          <a:prstGeom prst="rect">
            <a:avLst/>
          </a:prstGeom>
          <a:ln>
            <a:solidFill>
              <a:schemeClr val="tx1"/>
            </a:solidFill>
          </a:ln>
        </p:spPr>
      </p:pic>
      <p:sp>
        <p:nvSpPr>
          <p:cNvPr id="9" name="תיבת טקסט 8">
            <a:extLst>
              <a:ext uri="{FF2B5EF4-FFF2-40B4-BE49-F238E27FC236}">
                <a16:creationId xmlns:a16="http://schemas.microsoft.com/office/drawing/2014/main" id="{64FEB3FC-3B1E-17C9-BE57-92D99287C067}"/>
              </a:ext>
            </a:extLst>
          </p:cNvPr>
          <p:cNvSpPr txBox="1"/>
          <p:nvPr/>
        </p:nvSpPr>
        <p:spPr>
          <a:xfrm>
            <a:off x="6551627" y="462290"/>
            <a:ext cx="4883085" cy="646331"/>
          </a:xfrm>
          <a:prstGeom prst="rect">
            <a:avLst/>
          </a:prstGeom>
          <a:noFill/>
        </p:spPr>
        <p:txBody>
          <a:bodyPr wrap="square" rtlCol="1">
            <a:spAutoFit/>
          </a:bodyPr>
          <a:lstStyle/>
          <a:p>
            <a:r>
              <a:rPr lang="en-US" dirty="0">
                <a:hlinkClick r:id="rId6"/>
              </a:rPr>
              <a:t>https://drive.google.com/file/d/1u9qBgY37mgmlgSJcKttMFOYEu06ENfQ1/view?usp=sharing</a:t>
            </a:r>
            <a:endParaRPr lang="he-IL" dirty="0"/>
          </a:p>
        </p:txBody>
      </p:sp>
    </p:spTree>
    <p:extLst>
      <p:ext uri="{BB962C8B-B14F-4D97-AF65-F5344CB8AC3E}">
        <p14:creationId xmlns:p14="http://schemas.microsoft.com/office/powerpoint/2010/main" val="2032732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3CE29-A9F8-B0AC-5319-678DAACB781F}"/>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0081AA7A-6AF2-E4C0-FC1E-B72DB29ECBA3}"/>
              </a:ext>
            </a:extLst>
          </p:cNvPr>
          <p:cNvSpPr txBox="1"/>
          <p:nvPr/>
        </p:nvSpPr>
        <p:spPr>
          <a:xfrm>
            <a:off x="619028" y="443061"/>
            <a:ext cx="5476972" cy="646331"/>
          </a:xfrm>
          <a:prstGeom prst="rect">
            <a:avLst/>
          </a:prstGeom>
          <a:noFill/>
        </p:spPr>
        <p:txBody>
          <a:bodyPr wrap="square" rtlCol="1">
            <a:spAutoFit/>
          </a:bodyPr>
          <a:lstStyle/>
          <a:p>
            <a:pPr algn="l"/>
            <a:r>
              <a:rPr lang="en-US" sz="3600" dirty="0"/>
              <a:t>DE10-Lite - Implementation</a:t>
            </a:r>
            <a:endParaRPr lang="he-IL" sz="3600" dirty="0"/>
          </a:p>
        </p:txBody>
      </p:sp>
      <p:pic>
        <p:nvPicPr>
          <p:cNvPr id="5" name="תמונה 4">
            <a:extLst>
              <a:ext uri="{FF2B5EF4-FFF2-40B4-BE49-F238E27FC236}">
                <a16:creationId xmlns:a16="http://schemas.microsoft.com/office/drawing/2014/main" id="{3A9DEEEC-9B8B-76C1-021C-F897C306DF95}"/>
              </a:ext>
            </a:extLst>
          </p:cNvPr>
          <p:cNvPicPr>
            <a:picLocks noChangeAspect="1"/>
          </p:cNvPicPr>
          <p:nvPr/>
        </p:nvPicPr>
        <p:blipFill rotWithShape="1">
          <a:blip r:embed="rId2">
            <a:extLst>
              <a:ext uri="{28A0092B-C50C-407E-A947-70E740481C1C}">
                <a14:useLocalDpi xmlns:a14="http://schemas.microsoft.com/office/drawing/2010/main" val="0"/>
              </a:ext>
            </a:extLst>
          </a:blip>
          <a:srcRect l="20217" t="9133" r="23926" b="32390"/>
          <a:stretch>
            <a:fillRect/>
          </a:stretch>
        </p:blipFill>
        <p:spPr bwMode="auto">
          <a:xfrm>
            <a:off x="5788649" y="1408941"/>
            <a:ext cx="5844027" cy="4040118"/>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6" name="תמונה 5">
            <a:extLst>
              <a:ext uri="{FF2B5EF4-FFF2-40B4-BE49-F238E27FC236}">
                <a16:creationId xmlns:a16="http://schemas.microsoft.com/office/drawing/2014/main" id="{D2347B32-3E4B-1222-EFA0-BB05AB808A1B}"/>
              </a:ext>
            </a:extLst>
          </p:cNvPr>
          <p:cNvPicPr>
            <a:picLocks noChangeAspect="1"/>
          </p:cNvPicPr>
          <p:nvPr/>
        </p:nvPicPr>
        <p:blipFill rotWithShape="1">
          <a:blip r:embed="rId3">
            <a:extLst>
              <a:ext uri="{28A0092B-C50C-407E-A947-70E740481C1C}">
                <a14:useLocalDpi xmlns:a14="http://schemas.microsoft.com/office/drawing/2010/main" val="0"/>
              </a:ext>
            </a:extLst>
          </a:blip>
          <a:srcRect l="28818" t="7841" r="-22" b="46152"/>
          <a:stretch>
            <a:fillRect/>
          </a:stretch>
        </p:blipFill>
        <p:spPr bwMode="auto">
          <a:xfrm>
            <a:off x="559324" y="1516583"/>
            <a:ext cx="4779753" cy="1204640"/>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8" name="תמונה 7">
            <a:extLst>
              <a:ext uri="{FF2B5EF4-FFF2-40B4-BE49-F238E27FC236}">
                <a16:creationId xmlns:a16="http://schemas.microsoft.com/office/drawing/2014/main" id="{39633DFF-76CA-61E4-BA03-260B4B8B94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595" y="3054284"/>
            <a:ext cx="4536884" cy="3360655"/>
          </a:xfrm>
          <a:prstGeom prst="rect">
            <a:avLst/>
          </a:prstGeom>
        </p:spPr>
      </p:pic>
    </p:spTree>
    <p:extLst>
      <p:ext uri="{BB962C8B-B14F-4D97-AF65-F5344CB8AC3E}">
        <p14:creationId xmlns:p14="http://schemas.microsoft.com/office/powerpoint/2010/main" val="1404853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E2022-79D7-1FCF-0128-BDF816C8A8E9}"/>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23D7ADC3-E360-F3FF-28C0-1FECA1220B6A}"/>
              </a:ext>
            </a:extLst>
          </p:cNvPr>
          <p:cNvSpPr txBox="1"/>
          <p:nvPr/>
        </p:nvSpPr>
        <p:spPr>
          <a:xfrm>
            <a:off x="619028" y="443061"/>
            <a:ext cx="5476972" cy="646331"/>
          </a:xfrm>
          <a:prstGeom prst="rect">
            <a:avLst/>
          </a:prstGeom>
          <a:noFill/>
        </p:spPr>
        <p:txBody>
          <a:bodyPr wrap="square" rtlCol="1">
            <a:spAutoFit/>
          </a:bodyPr>
          <a:lstStyle/>
          <a:p>
            <a:pPr algn="l"/>
            <a:r>
              <a:rPr lang="en-US" sz="3600" dirty="0"/>
              <a:t>DE10-Lite - Implementation</a:t>
            </a:r>
            <a:endParaRPr lang="he-IL" sz="3600" dirty="0"/>
          </a:p>
        </p:txBody>
      </p:sp>
      <p:pic>
        <p:nvPicPr>
          <p:cNvPr id="3" name="תמונה 2" descr="C:\Users\HP\Desktop\Degree\Nisan_final_project\scripts\python_scripts\pninah_halacha.txt - Notepad++">
            <a:extLst>
              <a:ext uri="{FF2B5EF4-FFF2-40B4-BE49-F238E27FC236}">
                <a16:creationId xmlns:a16="http://schemas.microsoft.com/office/drawing/2014/main" id="{F75C474D-C16D-C81B-8B08-A7F4866678F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749" t="8512" r="20991" b="65509"/>
          <a:stretch>
            <a:fillRect/>
          </a:stretch>
        </p:blipFill>
        <p:spPr bwMode="auto">
          <a:xfrm>
            <a:off x="619028" y="1291472"/>
            <a:ext cx="6300246" cy="1273650"/>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4" name="תמונה 3" descr="C:\Users\HP\Desktop\Degree\Nisan_final_project\scripts\python_scripts\pyserial_scripts\encrypt_output\‏‏encrypt_decoded_output_pninah_halacha.txt - Notepad++">
            <a:extLst>
              <a:ext uri="{FF2B5EF4-FFF2-40B4-BE49-F238E27FC236}">
                <a16:creationId xmlns:a16="http://schemas.microsoft.com/office/drawing/2014/main" id="{66F27085-ED95-91FE-A558-8CC35078C4F5}"/>
              </a:ext>
            </a:extLst>
          </p:cNvPr>
          <p:cNvPicPr>
            <a:picLocks noChangeAspect="1"/>
          </p:cNvPicPr>
          <p:nvPr/>
        </p:nvPicPr>
        <p:blipFill rotWithShape="1">
          <a:blip r:embed="rId3">
            <a:extLst>
              <a:ext uri="{28A0092B-C50C-407E-A947-70E740481C1C}">
                <a14:useLocalDpi xmlns:a14="http://schemas.microsoft.com/office/drawing/2010/main" val="0"/>
              </a:ext>
            </a:extLst>
          </a:blip>
          <a:srcRect l="8430" t="9202" r="50045" b="49416"/>
          <a:stretch>
            <a:fillRect/>
          </a:stretch>
        </p:blipFill>
        <p:spPr bwMode="auto">
          <a:xfrm>
            <a:off x="619028" y="2691012"/>
            <a:ext cx="4850856" cy="2568369"/>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7" name="תמונה 6" descr="C:\Users\HP\Desktop\Degree\Nisan_final_project\scripts\python_scripts\pyserial_scripts\decrypt_output\‏‏decoded_output_pninah_halach.txt - Notepad++">
            <a:extLst>
              <a:ext uri="{FF2B5EF4-FFF2-40B4-BE49-F238E27FC236}">
                <a16:creationId xmlns:a16="http://schemas.microsoft.com/office/drawing/2014/main" id="{40CA1E1E-BFFF-42A2-BFF5-C81B730CA3D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8430" t="8973" r="27216" b="66210"/>
          <a:stretch>
            <a:fillRect/>
          </a:stretch>
        </p:blipFill>
        <p:spPr bwMode="auto">
          <a:xfrm>
            <a:off x="619028" y="5329834"/>
            <a:ext cx="6216160" cy="1273650"/>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9" name="תמונה 8">
            <a:extLst>
              <a:ext uri="{FF2B5EF4-FFF2-40B4-BE49-F238E27FC236}">
                <a16:creationId xmlns:a16="http://schemas.microsoft.com/office/drawing/2014/main" id="{D42F494D-C3F4-634C-E74E-F92F9FD1C879}"/>
              </a:ext>
            </a:extLst>
          </p:cNvPr>
          <p:cNvPicPr>
            <a:picLocks noChangeAspect="1"/>
          </p:cNvPicPr>
          <p:nvPr/>
        </p:nvPicPr>
        <p:blipFill>
          <a:blip r:embed="rId5"/>
          <a:stretch>
            <a:fillRect/>
          </a:stretch>
        </p:blipFill>
        <p:spPr>
          <a:xfrm>
            <a:off x="6273836" y="1643975"/>
            <a:ext cx="5785219" cy="4186249"/>
          </a:xfrm>
          <a:prstGeom prst="rect">
            <a:avLst/>
          </a:prstGeom>
          <a:ln>
            <a:solidFill>
              <a:schemeClr val="tx1"/>
            </a:solidFill>
          </a:ln>
        </p:spPr>
      </p:pic>
    </p:spTree>
    <p:extLst>
      <p:ext uri="{BB962C8B-B14F-4D97-AF65-F5344CB8AC3E}">
        <p14:creationId xmlns:p14="http://schemas.microsoft.com/office/powerpoint/2010/main" val="272656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F2EA6-9D04-439C-BE7D-1F34AD3F859E}"/>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2401F834-7B2D-83B2-6A7C-B0AA0214E32E}"/>
              </a:ext>
            </a:extLst>
          </p:cNvPr>
          <p:cNvSpPr txBox="1"/>
          <p:nvPr/>
        </p:nvSpPr>
        <p:spPr>
          <a:xfrm>
            <a:off x="619028" y="443061"/>
            <a:ext cx="5476972" cy="646331"/>
          </a:xfrm>
          <a:prstGeom prst="rect">
            <a:avLst/>
          </a:prstGeom>
          <a:noFill/>
        </p:spPr>
        <p:txBody>
          <a:bodyPr wrap="square" rtlCol="1">
            <a:spAutoFit/>
          </a:bodyPr>
          <a:lstStyle/>
          <a:p>
            <a:pPr algn="l"/>
            <a:r>
              <a:rPr lang="en-US" sz="3600" dirty="0"/>
              <a:t>DE10-Lite - Implementation</a:t>
            </a:r>
            <a:endParaRPr lang="he-IL" sz="3600" dirty="0"/>
          </a:p>
        </p:txBody>
      </p:sp>
      <p:pic>
        <p:nvPicPr>
          <p:cNvPr id="6" name="תמונה 5">
            <a:extLst>
              <a:ext uri="{FF2B5EF4-FFF2-40B4-BE49-F238E27FC236}">
                <a16:creationId xmlns:a16="http://schemas.microsoft.com/office/drawing/2014/main" id="{A2C01F4F-D270-E682-8F1A-58087A79CB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651" y="1159061"/>
            <a:ext cx="9980579" cy="1359305"/>
          </a:xfrm>
          <a:prstGeom prst="rect">
            <a:avLst/>
          </a:prstGeom>
        </p:spPr>
      </p:pic>
      <p:pic>
        <p:nvPicPr>
          <p:cNvPr id="10" name="תמונה 9">
            <a:extLst>
              <a:ext uri="{FF2B5EF4-FFF2-40B4-BE49-F238E27FC236}">
                <a16:creationId xmlns:a16="http://schemas.microsoft.com/office/drawing/2014/main" id="{2A963027-445E-B7FB-DDBC-9EAF28208C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651" y="2659087"/>
            <a:ext cx="7407282" cy="1150720"/>
          </a:xfrm>
          <a:prstGeom prst="rect">
            <a:avLst/>
          </a:prstGeom>
        </p:spPr>
      </p:pic>
      <p:pic>
        <p:nvPicPr>
          <p:cNvPr id="12" name="תמונה 11">
            <a:extLst>
              <a:ext uri="{FF2B5EF4-FFF2-40B4-BE49-F238E27FC236}">
                <a16:creationId xmlns:a16="http://schemas.microsoft.com/office/drawing/2014/main" id="{B10FE6D6-353A-4393-21DB-F84425E700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651" y="3950528"/>
            <a:ext cx="10603149" cy="2578694"/>
          </a:xfrm>
          <a:prstGeom prst="rect">
            <a:avLst/>
          </a:prstGeom>
        </p:spPr>
      </p:pic>
    </p:spTree>
    <p:extLst>
      <p:ext uri="{BB962C8B-B14F-4D97-AF65-F5344CB8AC3E}">
        <p14:creationId xmlns:p14="http://schemas.microsoft.com/office/powerpoint/2010/main" val="572028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13AB7-71FC-D328-0E91-FB938B2AB383}"/>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DA02991B-3F03-E353-52DC-B4642655B9E3}"/>
              </a:ext>
            </a:extLst>
          </p:cNvPr>
          <p:cNvSpPr txBox="1"/>
          <p:nvPr/>
        </p:nvSpPr>
        <p:spPr>
          <a:xfrm>
            <a:off x="6828817" y="688157"/>
            <a:ext cx="4275957" cy="646331"/>
          </a:xfrm>
          <a:prstGeom prst="rect">
            <a:avLst/>
          </a:prstGeom>
          <a:noFill/>
        </p:spPr>
        <p:txBody>
          <a:bodyPr wrap="square" rtlCol="1">
            <a:spAutoFit/>
          </a:bodyPr>
          <a:lstStyle/>
          <a:p>
            <a:r>
              <a:rPr lang="he-IL" sz="3600" dirty="0"/>
              <a:t>מסקנות והמשך פיתוח</a:t>
            </a:r>
          </a:p>
        </p:txBody>
      </p:sp>
      <p:graphicFrame>
        <p:nvGraphicFramePr>
          <p:cNvPr id="7" name="טבלה 6">
            <a:extLst>
              <a:ext uri="{FF2B5EF4-FFF2-40B4-BE49-F238E27FC236}">
                <a16:creationId xmlns:a16="http://schemas.microsoft.com/office/drawing/2014/main" id="{C4522B1A-4061-F56C-1CB9-D0A65A5C8909}"/>
              </a:ext>
            </a:extLst>
          </p:cNvPr>
          <p:cNvGraphicFramePr>
            <a:graphicFrameLocks noGrp="1"/>
          </p:cNvGraphicFramePr>
          <p:nvPr>
            <p:extLst>
              <p:ext uri="{D42A27DB-BD31-4B8C-83A1-F6EECF244321}">
                <p14:modId xmlns:p14="http://schemas.microsoft.com/office/powerpoint/2010/main" val="2703425011"/>
              </p:ext>
            </p:extLst>
          </p:nvPr>
        </p:nvGraphicFramePr>
        <p:xfrm>
          <a:off x="2109821" y="1513927"/>
          <a:ext cx="8128000" cy="2291080"/>
        </p:xfrm>
        <a:graphic>
          <a:graphicData uri="http://schemas.openxmlformats.org/drawingml/2006/table">
            <a:tbl>
              <a:tblPr rtl="1" firstRow="1" bandRow="1">
                <a:tableStyleId>{5C22544A-7EE6-4342-B048-85BDC9FD1C3A}</a:tableStyleId>
              </a:tblPr>
              <a:tblGrid>
                <a:gridCol w="4064000">
                  <a:extLst>
                    <a:ext uri="{9D8B030D-6E8A-4147-A177-3AD203B41FA5}">
                      <a16:colId xmlns:a16="http://schemas.microsoft.com/office/drawing/2014/main" val="3786422279"/>
                    </a:ext>
                  </a:extLst>
                </a:gridCol>
                <a:gridCol w="4064000">
                  <a:extLst>
                    <a:ext uri="{9D8B030D-6E8A-4147-A177-3AD203B41FA5}">
                      <a16:colId xmlns:a16="http://schemas.microsoft.com/office/drawing/2014/main" val="1357550646"/>
                    </a:ext>
                  </a:extLst>
                </a:gridCol>
              </a:tblGrid>
              <a:tr h="370840">
                <a:tc>
                  <a:txBody>
                    <a:bodyPr/>
                    <a:lstStyle/>
                    <a:p>
                      <a:pPr rtl="1"/>
                      <a:r>
                        <a:rPr lang="he-IL" dirty="0"/>
                        <a:t>הישגים</a:t>
                      </a:r>
                    </a:p>
                  </a:txBody>
                  <a:tcPr/>
                </a:tc>
                <a:tc>
                  <a:txBody>
                    <a:bodyPr/>
                    <a:lstStyle/>
                    <a:p>
                      <a:pPr rtl="1"/>
                      <a:r>
                        <a:rPr lang="he-IL" dirty="0"/>
                        <a:t>המשך פיתוח</a:t>
                      </a:r>
                    </a:p>
                  </a:txBody>
                  <a:tcPr/>
                </a:tc>
                <a:extLst>
                  <a:ext uri="{0D108BD9-81ED-4DB2-BD59-A6C34878D82A}">
                    <a16:rowId xmlns:a16="http://schemas.microsoft.com/office/drawing/2014/main" val="727929939"/>
                  </a:ext>
                </a:extLst>
              </a:tr>
              <a:tr h="370840">
                <a:tc>
                  <a:txBody>
                    <a:bodyPr/>
                    <a:lstStyle/>
                    <a:p>
                      <a:pPr rtl="1"/>
                      <a:r>
                        <a:rPr lang="he-IL" b="1" dirty="0"/>
                        <a:t>מימוש מלא - </a:t>
                      </a:r>
                      <a:r>
                        <a:rPr lang="he-IL" dirty="0"/>
                        <a:t>הוכחת ייתכנות והצפנה על רכיבי </a:t>
                      </a:r>
                      <a:r>
                        <a:rPr lang="en-US" dirty="0"/>
                        <a:t>FPGA</a:t>
                      </a:r>
                      <a:r>
                        <a:rPr lang="he-IL" dirty="0"/>
                        <a:t> שונים.</a:t>
                      </a:r>
                    </a:p>
                  </a:txBody>
                  <a:tcPr/>
                </a:tc>
                <a:tc>
                  <a:txBody>
                    <a:bodyPr/>
                    <a:lstStyle/>
                    <a:p>
                      <a:pPr rtl="1"/>
                      <a:r>
                        <a:rPr lang="he-IL" dirty="0"/>
                        <a:t>מימוש על רכיבים נוספים - </a:t>
                      </a:r>
                      <a:r>
                        <a:rPr lang="en-US" dirty="0"/>
                        <a:t>Cologne Chip</a:t>
                      </a:r>
                      <a:r>
                        <a:rPr lang="he-IL" dirty="0"/>
                        <a:t> ועוד.</a:t>
                      </a:r>
                    </a:p>
                  </a:txBody>
                  <a:tcPr/>
                </a:tc>
                <a:extLst>
                  <a:ext uri="{0D108BD9-81ED-4DB2-BD59-A6C34878D82A}">
                    <a16:rowId xmlns:a16="http://schemas.microsoft.com/office/drawing/2014/main" val="3486848335"/>
                  </a:ext>
                </a:extLst>
              </a:tr>
              <a:tr h="370840">
                <a:tc>
                  <a:txBody>
                    <a:bodyPr/>
                    <a:lstStyle/>
                    <a:p>
                      <a:pPr rtl="1"/>
                      <a:r>
                        <a:rPr lang="he-IL" b="1" dirty="0"/>
                        <a:t>דיוק – </a:t>
                      </a:r>
                      <a:r>
                        <a:rPr lang="he-IL" b="0" dirty="0"/>
                        <a:t>התאמה מלאה בין סימולציות </a:t>
                      </a:r>
                      <a:r>
                        <a:rPr lang="en-US" b="0" dirty="0"/>
                        <a:t>SW</a:t>
                      </a:r>
                      <a:r>
                        <a:rPr lang="he-IL" b="0" dirty="0"/>
                        <a:t> לסימולציות </a:t>
                      </a:r>
                      <a:r>
                        <a:rPr lang="en-US" b="0" dirty="0"/>
                        <a:t>HW</a:t>
                      </a:r>
                      <a:endParaRPr lang="he-IL" b="1" dirty="0"/>
                    </a:p>
                  </a:txBody>
                  <a:tcPr/>
                </a:tc>
                <a:tc>
                  <a:txBody>
                    <a:bodyPr/>
                    <a:lstStyle/>
                    <a:p>
                      <a:pPr rtl="1"/>
                      <a:r>
                        <a:rPr lang="he-IL" dirty="0"/>
                        <a:t>אופטימיזציה ושיפור ביצועים - הגדלת קצב העברת הנתונים. </a:t>
                      </a:r>
                    </a:p>
                  </a:txBody>
                  <a:tcPr/>
                </a:tc>
                <a:extLst>
                  <a:ext uri="{0D108BD9-81ED-4DB2-BD59-A6C34878D82A}">
                    <a16:rowId xmlns:a16="http://schemas.microsoft.com/office/drawing/2014/main" val="820204310"/>
                  </a:ext>
                </a:extLst>
              </a:tr>
              <a:tr h="370840">
                <a:tc>
                  <a:txBody>
                    <a:bodyPr/>
                    <a:lstStyle/>
                    <a:p>
                      <a:pPr rtl="1"/>
                      <a:r>
                        <a:rPr lang="he-IL" b="1" dirty="0"/>
                        <a:t>עמידה בתקן – </a:t>
                      </a:r>
                      <a:r>
                        <a:rPr lang="he-IL" b="0" dirty="0"/>
                        <a:t>יישום מוצלח לפי דרישות האלגוריתם.</a:t>
                      </a:r>
                      <a:endParaRPr lang="he-IL" b="1" dirty="0"/>
                    </a:p>
                  </a:txBody>
                  <a:tcPr/>
                </a:tc>
                <a:tc>
                  <a:txBody>
                    <a:bodyPr/>
                    <a:lstStyle/>
                    <a:p>
                      <a:pPr rtl="1"/>
                      <a:r>
                        <a:rPr lang="he-IL" dirty="0"/>
                        <a:t>שיפור ושדרוג ה- </a:t>
                      </a:r>
                      <a:r>
                        <a:rPr lang="en-US" dirty="0"/>
                        <a:t>Verification</a:t>
                      </a:r>
                      <a:r>
                        <a:rPr lang="he-IL" dirty="0"/>
                        <a:t> </a:t>
                      </a:r>
                    </a:p>
                  </a:txBody>
                  <a:tcPr/>
                </a:tc>
                <a:extLst>
                  <a:ext uri="{0D108BD9-81ED-4DB2-BD59-A6C34878D82A}">
                    <a16:rowId xmlns:a16="http://schemas.microsoft.com/office/drawing/2014/main" val="3906195281"/>
                  </a:ext>
                </a:extLst>
              </a:tr>
            </a:tbl>
          </a:graphicData>
        </a:graphic>
      </p:graphicFrame>
    </p:spTree>
    <p:extLst>
      <p:ext uri="{BB962C8B-B14F-4D97-AF65-F5344CB8AC3E}">
        <p14:creationId xmlns:p14="http://schemas.microsoft.com/office/powerpoint/2010/main" val="3810323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3A526-845A-3523-9A01-D8B9639E3D56}"/>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31AEEBBC-7F9F-F5CC-7B08-1DB37719DE75}"/>
              </a:ext>
            </a:extLst>
          </p:cNvPr>
          <p:cNvSpPr txBox="1"/>
          <p:nvPr/>
        </p:nvSpPr>
        <p:spPr>
          <a:xfrm>
            <a:off x="8286160" y="688157"/>
            <a:ext cx="2818614" cy="646331"/>
          </a:xfrm>
          <a:prstGeom prst="rect">
            <a:avLst/>
          </a:prstGeom>
          <a:noFill/>
        </p:spPr>
        <p:txBody>
          <a:bodyPr wrap="square" rtlCol="1">
            <a:spAutoFit/>
          </a:bodyPr>
          <a:lstStyle/>
          <a:p>
            <a:r>
              <a:rPr lang="he-IL" sz="3600" dirty="0"/>
              <a:t>תודות</a:t>
            </a:r>
          </a:p>
        </p:txBody>
      </p:sp>
      <p:sp>
        <p:nvSpPr>
          <p:cNvPr id="4" name="תיבת טקסט 3">
            <a:extLst>
              <a:ext uri="{FF2B5EF4-FFF2-40B4-BE49-F238E27FC236}">
                <a16:creationId xmlns:a16="http://schemas.microsoft.com/office/drawing/2014/main" id="{A6446A5A-6A44-6760-E694-20632D14169A}"/>
              </a:ext>
            </a:extLst>
          </p:cNvPr>
          <p:cNvSpPr txBox="1"/>
          <p:nvPr/>
        </p:nvSpPr>
        <p:spPr>
          <a:xfrm>
            <a:off x="5010396" y="1522538"/>
            <a:ext cx="6094378" cy="4524315"/>
          </a:xfrm>
          <a:prstGeom prst="rect">
            <a:avLst/>
          </a:prstGeom>
          <a:noFill/>
        </p:spPr>
        <p:txBody>
          <a:bodyPr wrap="square">
            <a:spAutoFit/>
          </a:bodyPr>
          <a:lstStyle/>
          <a:p>
            <a:r>
              <a:rPr lang="he-IL" sz="1800" dirty="0">
                <a:effectLst/>
                <a:ea typeface="Calibri" panose="020F0502020204030204" pitchFamily="34" charset="0"/>
                <a:cs typeface="David" panose="020E0502060401010101" pitchFamily="34" charset="-79"/>
              </a:rPr>
              <a:t>ברצוני להודות לבורא עולם אשר הביאני עד הלום.</a:t>
            </a:r>
          </a:p>
          <a:p>
            <a:r>
              <a:rPr lang="he-IL" dirty="0">
                <a:ea typeface="Calibri" panose="020F0502020204030204" pitchFamily="34" charset="0"/>
                <a:cs typeface="David" panose="020E0502060401010101" pitchFamily="34" charset="-79"/>
              </a:rPr>
              <a:t>כמו כן ברצוני להודות:</a:t>
            </a:r>
            <a:br>
              <a:rPr lang="en-US" dirty="0">
                <a:ea typeface="Calibri" panose="020F0502020204030204" pitchFamily="34" charset="0"/>
                <a:cs typeface="David" panose="020E0502060401010101" pitchFamily="34" charset="-79"/>
              </a:rPr>
            </a:br>
            <a:endParaRPr lang="he-IL" dirty="0">
              <a:ea typeface="Calibri" panose="020F0502020204030204" pitchFamily="34" charset="0"/>
              <a:cs typeface="David" panose="020E0502060401010101" pitchFamily="34" charset="-79"/>
            </a:endParaRPr>
          </a:p>
          <a:p>
            <a:pPr marL="742950" lvl="1" indent="-285750">
              <a:buFont typeface="Arial" panose="020B0604020202020204" pitchFamily="34" charset="0"/>
              <a:buChar char="•"/>
            </a:pPr>
            <a:r>
              <a:rPr lang="he-IL" dirty="0">
                <a:effectLst/>
                <a:ea typeface="Calibri" panose="020F0502020204030204" pitchFamily="34" charset="0"/>
                <a:cs typeface="David" panose="020E0502060401010101" pitchFamily="34" charset="-79"/>
              </a:rPr>
              <a:t>לשירה, אשתי היקרה, על התמיכה והסבלנות לאורך הדרך.</a:t>
            </a:r>
          </a:p>
          <a:p>
            <a:pPr marL="742950" lvl="1" indent="-285750">
              <a:buFont typeface="Arial" panose="020B0604020202020204" pitchFamily="34" charset="0"/>
              <a:buChar char="•"/>
            </a:pPr>
            <a:r>
              <a:rPr lang="he-IL" dirty="0">
                <a:ea typeface="Calibri" panose="020F0502020204030204" pitchFamily="34" charset="0"/>
                <a:cs typeface="David" panose="020E0502060401010101" pitchFamily="34" charset="-79"/>
              </a:rPr>
              <a:t>לילדיי על השמחה והאושר שמעניקים לי.</a:t>
            </a:r>
          </a:p>
          <a:p>
            <a:pPr marL="742950" lvl="1" indent="-285750">
              <a:buFont typeface="Arial" panose="020B0604020202020204" pitchFamily="34" charset="0"/>
              <a:buChar char="•"/>
            </a:pPr>
            <a:r>
              <a:rPr lang="he-IL" dirty="0">
                <a:ea typeface="Calibri" panose="020F0502020204030204" pitchFamily="34" charset="0"/>
                <a:cs typeface="David" panose="020E0502060401010101" pitchFamily="34" charset="-79"/>
              </a:rPr>
              <a:t>להוריי היקרים.</a:t>
            </a:r>
          </a:p>
          <a:p>
            <a:pPr marL="742950" lvl="1" indent="-285750">
              <a:buFont typeface="Arial" panose="020B0604020202020204" pitchFamily="34" charset="0"/>
              <a:buChar char="•"/>
            </a:pPr>
            <a:r>
              <a:rPr lang="he-IL" dirty="0">
                <a:ea typeface="Calibri" panose="020F0502020204030204" pitchFamily="34" charset="0"/>
                <a:cs typeface="David" panose="020E0502060401010101" pitchFamily="34" charset="-79"/>
              </a:rPr>
              <a:t>לחמי וחמותי.</a:t>
            </a:r>
            <a:br>
              <a:rPr lang="en-US" dirty="0">
                <a:ea typeface="Calibri" panose="020F0502020204030204" pitchFamily="34" charset="0"/>
                <a:cs typeface="David" panose="020E0502060401010101" pitchFamily="34" charset="-79"/>
              </a:rPr>
            </a:br>
            <a:endParaRPr lang="he-IL" dirty="0">
              <a:ea typeface="Calibri" panose="020F0502020204030204" pitchFamily="34" charset="0"/>
              <a:cs typeface="David" panose="020E0502060401010101" pitchFamily="34" charset="-79"/>
            </a:endParaRPr>
          </a:p>
          <a:p>
            <a:pPr marL="742950" lvl="1" indent="-285750">
              <a:buFont typeface="Arial" panose="020B0604020202020204" pitchFamily="34" charset="0"/>
              <a:buChar char="•"/>
            </a:pPr>
            <a:r>
              <a:rPr lang="he-IL" dirty="0">
                <a:effectLst/>
                <a:ea typeface="Calibri" panose="020F0502020204030204" pitchFamily="34" charset="0"/>
                <a:cs typeface="David" panose="020E0502060401010101" pitchFamily="34" charset="-79"/>
              </a:rPr>
              <a:t>למר אורי שטרו, על ההדרכה, ההקשבה וההכוונה המקצועית לאורך כל הדרך.</a:t>
            </a:r>
          </a:p>
          <a:p>
            <a:pPr marL="742950" lvl="1" indent="-285750">
              <a:buFont typeface="Arial" panose="020B0604020202020204" pitchFamily="34" charset="0"/>
              <a:buChar char="•"/>
            </a:pPr>
            <a:r>
              <a:rPr lang="he-IL" dirty="0">
                <a:ea typeface="Calibri" panose="020F0502020204030204" pitchFamily="34" charset="0"/>
                <a:cs typeface="David" panose="020E0502060401010101" pitchFamily="34" charset="-79"/>
              </a:rPr>
              <a:t>לדוקטור מרסלו דוד, על האוזן הקשבת, והתמיכה לאורך כל התואר.</a:t>
            </a:r>
            <a:br>
              <a:rPr lang="en-US" dirty="0">
                <a:ea typeface="Calibri" panose="020F0502020204030204" pitchFamily="34" charset="0"/>
                <a:cs typeface="David" panose="020E0502060401010101" pitchFamily="34" charset="-79"/>
              </a:rPr>
            </a:br>
            <a:endParaRPr lang="he-IL" dirty="0">
              <a:ea typeface="Calibri" panose="020F0502020204030204" pitchFamily="34" charset="0"/>
              <a:cs typeface="David" panose="020E0502060401010101" pitchFamily="34" charset="-79"/>
            </a:endParaRPr>
          </a:p>
          <a:p>
            <a:pPr marL="742950" lvl="1" indent="-285750">
              <a:buFont typeface="Arial" panose="020B0604020202020204" pitchFamily="34" charset="0"/>
              <a:buChar char="•"/>
            </a:pPr>
            <a:r>
              <a:rPr lang="he-IL" dirty="0">
                <a:ea typeface="Calibri" panose="020F0502020204030204" pitchFamily="34" charset="0"/>
                <a:cs typeface="David" panose="020E0502060401010101" pitchFamily="34" charset="-79"/>
              </a:rPr>
              <a:t>לדביר בכר וחבריי לספסל הלימודים. </a:t>
            </a:r>
            <a:endParaRPr lang="he-IL" dirty="0">
              <a:effectLst/>
              <a:ea typeface="Calibri" panose="020F0502020204030204" pitchFamily="34" charset="0"/>
              <a:cs typeface="David" panose="020E0502060401010101" pitchFamily="34" charset="-79"/>
            </a:endParaRPr>
          </a:p>
          <a:p>
            <a:br>
              <a:rPr lang="en-US" sz="1800" dirty="0">
                <a:effectLst/>
                <a:ea typeface="Calibri" panose="020F0502020204030204" pitchFamily="34" charset="0"/>
                <a:cs typeface="David" panose="020E0502060401010101" pitchFamily="34" charset="-79"/>
              </a:rPr>
            </a:br>
            <a:endParaRPr lang="he-IL" dirty="0"/>
          </a:p>
        </p:txBody>
      </p:sp>
    </p:spTree>
    <p:extLst>
      <p:ext uri="{BB962C8B-B14F-4D97-AF65-F5344CB8AC3E}">
        <p14:creationId xmlns:p14="http://schemas.microsoft.com/office/powerpoint/2010/main" val="3726760749"/>
      </p:ext>
    </p:extLst>
  </p:cSld>
  <p:clrMapOvr>
    <a:masterClrMapping/>
  </p:clrMapOvr>
</p:sld>
</file>

<file path=ppt/theme/theme1.xml><?xml version="1.0" encoding="utf-8"?>
<a:theme xmlns:a="http://schemas.openxmlformats.org/drawingml/2006/main" name="ערכת נושא Office">
  <a:themeElements>
    <a:clrScheme name="כחול מספר שתיים">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פרויקט גמר">
      <a:majorFont>
        <a:latin typeface="David"/>
        <a:ea typeface=""/>
        <a:cs typeface="David"/>
      </a:majorFont>
      <a:minorFont>
        <a:latin typeface="David"/>
        <a:ea typeface=""/>
        <a:cs typeface="David"/>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TotalTime>
  <Words>1151</Words>
  <Application>Microsoft Office PowerPoint</Application>
  <PresentationFormat>מסך רחב</PresentationFormat>
  <Paragraphs>204</Paragraphs>
  <Slides>30</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30</vt:i4>
      </vt:variant>
    </vt:vector>
  </HeadingPairs>
  <TitlesOfParts>
    <vt:vector size="36" baseType="lpstr">
      <vt:lpstr>Arial</vt:lpstr>
      <vt:lpstr>Calibri</vt:lpstr>
      <vt:lpstr>Cambria Math</vt:lpstr>
      <vt:lpstr>David</vt:lpstr>
      <vt:lpstr>Symbol</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ניסן שלמוב</dc:creator>
  <cp:lastModifiedBy>ניסן שלמוב</cp:lastModifiedBy>
  <cp:revision>3</cp:revision>
  <dcterms:created xsi:type="dcterms:W3CDTF">2025-11-24T20:53:59Z</dcterms:created>
  <dcterms:modified xsi:type="dcterms:W3CDTF">2026-04-19T22:47:21Z</dcterms:modified>
</cp:coreProperties>
</file>